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6858000" cx="12192000"/>
  <p:notesSz cx="6858000" cy="9144000"/>
  <p:embeddedFontLst>
    <p:embeddedFont>
      <p:font typeface="Work Sans SemiBold"/>
      <p:regular r:id="rId41"/>
      <p:bold r:id="rId42"/>
      <p:italic r:id="rId43"/>
      <p:boldItalic r:id="rId44"/>
    </p:embeddedFont>
    <p:embeddedFont>
      <p:font typeface="Work Sans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95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87">
          <p15:clr>
            <a:srgbClr val="A4A3A4"/>
          </p15:clr>
        </p15:guide>
        <p15:guide id="4" pos="438">
          <p15:clr>
            <a:srgbClr val="A4A3A4"/>
          </p15:clr>
        </p15:guide>
        <p15:guide id="5" orient="horz" pos="2387">
          <p15:clr>
            <a:srgbClr val="A4A3A4"/>
          </p15:clr>
        </p15:guide>
        <p15:guide id="6" orient="horz" pos="2840">
          <p15:clr>
            <a:srgbClr val="A4A3A4"/>
          </p15:clr>
        </p15:guide>
      </p15:sldGuideLst>
    </p:ext>
    <p:ext uri="GoogleSlidesCustomDataVersion2">
      <go:slidesCustomData xmlns:go="http://customooxmlschemas.google.com/" r:id="rId49" roundtripDataSignature="AMtx7mj91eL9+lqRw0debmj2YHGfbiS8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95" orient="horz"/>
        <p:guide pos="3840"/>
        <p:guide pos="187" orient="horz"/>
        <p:guide pos="438"/>
        <p:guide pos="2387" orient="horz"/>
        <p:guide pos="2840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font" Target="fonts/WorkSansSemiBold-regular.fntdata"/><Relationship Id="rId42" Type="http://schemas.openxmlformats.org/officeDocument/2006/relationships/font" Target="fonts/WorkSansSemiBold-bold.fntdata"/><Relationship Id="rId43" Type="http://schemas.openxmlformats.org/officeDocument/2006/relationships/font" Target="fonts/WorkSansSemiBold-italic.fntdata"/><Relationship Id="rId44" Type="http://schemas.openxmlformats.org/officeDocument/2006/relationships/font" Target="fonts/WorkSansSemiBold-boldItalic.fntdata"/><Relationship Id="rId45" Type="http://schemas.openxmlformats.org/officeDocument/2006/relationships/font" Target="fonts/WorkSans-regular.fntdata"/><Relationship Id="rId46" Type="http://schemas.openxmlformats.org/officeDocument/2006/relationships/font" Target="fonts/WorkSans-bold.fntdata"/><Relationship Id="rId47" Type="http://schemas.openxmlformats.org/officeDocument/2006/relationships/font" Target="fonts/WorkSans-italic.fntdata"/><Relationship Id="rId48" Type="http://schemas.openxmlformats.org/officeDocument/2006/relationships/font" Target="fonts/WorkSans-boldItalic.fntdata"/><Relationship Id="rId49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O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El problema central radica en la falta de un sistema digital de turnos y trazabilidad, generando fricción con los clientes y pérdidas de productividad.</a:t>
            </a:r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La justificación se basa en contrastar cada dolor operativo del taller con una solución tecnológica concreta.</a:t>
            </a:r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El objetivo general abarca el desarrollo del software enfocado en la eficiencia operativa, SLA y satisfacción del cliente.</a:t>
            </a:r>
          </a:p>
        </p:txBody>
      </p:sp>
      <p:sp>
        <p:nvSpPr>
          <p:cNvPr id="130" name="Google Shape;13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Se dividen los objetivos entre los impactos de negocio del proyecto y los requerimientos funcionales del sistema.</a:t>
            </a:r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El alcance define el límite funcional del aplicativo en sus módulos de clientes, técnico, administrativo y auditoría.</a:t>
            </a:r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Se identificaron los riesgos operativos, tecnológicos y humanos junto con sus planes de mitigación.</a:t>
            </a:r>
          </a:p>
        </p:txBody>
      </p:sp>
      <p:sp>
        <p:nvSpPr>
          <p:cNvPr id="149" name="Google Shape;14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Las restricciones delimitan el marco tecnológico, legal, de rendimiento y temporal en el que opera el proyecto.</a:t>
            </a:r>
          </a:p>
        </p:txBody>
      </p:sp>
      <p:sp>
        <p:nvSpPr>
          <p:cNvPr id="155" name="Google Shape;15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85abcdf13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f85abcdf13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f85abcdf13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Fase II: Análisis de requerimientos del sistema ServiTech, estructurado bajo el modelo de negocio del taller técnico, fuentes de elicitación, matriz de stakeholders, historias de usuario, requerimientos funcionales, no funcionales y matriz de priorización.</a:t>
            </a:r>
          </a:p>
        </p:txBody>
      </p:sp>
      <p:sp>
        <p:nvSpPr>
          <p:cNvPr id="169" name="Google Shape;16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Elicitación de requisitos basada en fuentes reales del taller y aplicación de encuestas, entrevistas y observación directa para definir las reglas de negocio.</a:t>
            </a:r>
          </a:p>
        </p:txBody>
      </p:sp>
      <p:sp>
        <p:nvSpPr>
          <p:cNvPr id="175" name="Google Shape;17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Matriz de stakeholders basada en el modelo de poder e interés identificando los 4 cuadrantes de gestión del taller técnico.</a:t>
            </a:r>
          </a:p>
        </p:txBody>
      </p:sp>
      <p:sp>
        <p:nvSpPr>
          <p:cNvPr id="180" name="Google Shape;18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Formato formal de Historia de Usuario HU01 que captura el agendamiento autónomo del cliente con sus criterios de aceptación.</a:t>
            </a:r>
          </a:p>
        </p:txBody>
      </p:sp>
      <p:sp>
        <p:nvSpPr>
          <p:cNvPr id="185" name="Google Shape;18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Formato formal de Historia de Usuario HU03 que gestiona el aviso de retraso y las contingencias operativas del taller.</a:t>
            </a:r>
          </a:p>
        </p:txBody>
      </p:sp>
      <p:sp>
        <p:nvSpPr>
          <p:cNvPr id="190" name="Google Shape;19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Especificación formal en tabla del requerimiento funcional principal RF-05 del motor de agendamiento.</a:t>
            </a:r>
          </a:p>
        </p:txBody>
      </p:sp>
      <p:sp>
        <p:nvSpPr>
          <p:cNvPr id="195" name="Google Shape;19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Especificación formal en tabla del requerimiento no funcional RNF-03 bajo norma ISO 25010 para auditoría automática por triggers PostgreSQL.</a:t>
            </a:r>
          </a:p>
        </p:txBody>
      </p:sp>
      <p:sp>
        <p:nvSpPr>
          <p:cNvPr id="200" name="Google Shape;20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Presentamos la matriz de priorización ponderada de Historias de Usuario: calculamos el Sector multiplicando Valor de Negocio por Urgencia (escala 1 a 5), clasificando en rojo coral las de máxima prioridad (25) como HU01 y HU05, en naranja las prioritarias (16-20) y en amarillo las complementarias.</a:t>
            </a:r>
          </a:p>
        </p:txBody>
      </p:sp>
      <p:sp>
        <p:nvSpPr>
          <p:cNvPr id="206" name="Google Shape;20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85abcdf13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g3f85abcdf13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Caso de Uso CU02: Agendamiento de Cita de Servicio Técnico.</a:t>
            </a:r>
          </a:p>
        </p:txBody>
      </p:sp>
      <p:sp>
        <p:nvSpPr>
          <p:cNvPr id="223" name="Google Shape;22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883c94295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Caso de Uso CU03: Administrar Estado y Demoras de Citas.</a:t>
            </a:r>
          </a:p>
        </p:txBody>
      </p:sp>
      <p:sp>
        <p:nvSpPr>
          <p:cNvPr id="230" name="Google Shape;230;g3f883c94295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883c94295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Caso de Uso CU04: Controlar Estado de Turno Técnico.</a:t>
            </a:r>
          </a:p>
        </p:txBody>
      </p:sp>
      <p:sp>
        <p:nvSpPr>
          <p:cNvPr id="237" name="Google Shape;237;g3f883c94295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883c94295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Caso de Uso CU05: Gestionar Oferta de Servicios y SLA.</a:t>
            </a:r>
          </a:p>
        </p:txBody>
      </p:sp>
      <p:sp>
        <p:nvSpPr>
          <p:cNvPr id="244" name="Google Shape;244;g3f883c94295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Diseño de base de datos normalizado en tercera forma normal (3FN) optimizado para PostgreSQL.</a:t>
            </a:r>
          </a:p>
        </p:txBody>
      </p:sp>
      <p:sp>
        <p:nvSpPr>
          <p:cNvPr id="266" name="Google Shape;26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Diccionario de datos de la tabla transaccional central que almacena todas las reservas y órdenes del taller.</a:t>
            </a:r>
          </a:p>
        </p:txBody>
      </p:sp>
      <p:sp>
        <p:nvSpPr>
          <p:cNvPr id="272" name="Google Shape;27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Diccionario de catálogo SLA y esquema JSONB inmutable para el cumplimiento del requerimiento de auditoría RNF-03.</a:t>
            </a:r>
          </a:p>
        </p:txBody>
      </p:sp>
      <p:sp>
        <p:nvSpPr>
          <p:cNvPr id="278" name="Google Shape;278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4" name="Google Shape;28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f0ee9bbb6f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El stack combina la robustez y seguridad de Django y PostgreSQL con una interfaz moderna en TailwindCSS.</a:t>
            </a:r>
          </a:p>
        </p:txBody>
      </p:sp>
      <p:sp>
        <p:nvSpPr>
          <p:cNvPr id="290" name="Google Shape;290;g3f0ee9bbb6f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f883c94295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2" name="Google Shape;312;g3f883c94295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Matriz de casos de prueba ejecutados satisfactoriamente, validando integridad, seguridad y reglas de negocio.</a:t>
            </a:r>
          </a:p>
        </p:txBody>
      </p:sp>
      <p:sp>
        <p:nvSpPr>
          <p:cNvPr id="318" name="Google Shape;318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4" name="Google Shape;324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3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EC388"/>
              </a:buClr>
              <a:buSzPts val="2400"/>
              <a:buNone/>
              <a:defRPr sz="2400">
                <a:solidFill>
                  <a:srgbClr val="8EC3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2000"/>
              <a:buNone/>
              <a:defRPr sz="2000">
                <a:solidFill>
                  <a:srgbClr val="8EC3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800"/>
              <a:buNone/>
              <a:defRPr sz="1800">
                <a:solidFill>
                  <a:srgbClr val="8EC3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9pPr>
          </a:lstStyle>
          <a:p/>
        </p:txBody>
      </p:sp>
      <p:sp>
        <p:nvSpPr>
          <p:cNvPr id="41" name="Google Shape;41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4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4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4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4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8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2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24.png"/><Relationship Id="rId6" Type="http://schemas.openxmlformats.org/officeDocument/2006/relationships/image" Target="../media/image2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png"/><Relationship Id="rId4" Type="http://schemas.openxmlformats.org/officeDocument/2006/relationships/image" Target="../media/image18.png"/><Relationship Id="rId5" Type="http://schemas.openxmlformats.org/officeDocument/2006/relationships/image" Target="../media/image28.png"/><Relationship Id="rId6" Type="http://schemas.openxmlformats.org/officeDocument/2006/relationships/image" Target="../media/image22.png"/><Relationship Id="rId7" Type="http://schemas.openxmlformats.org/officeDocument/2006/relationships/image" Target="../media/image25.png"/><Relationship Id="rId8" Type="http://schemas.openxmlformats.org/officeDocument/2006/relationships/image" Target="../media/image29.png"/><Relationship Id="rId9" Type="http://schemas.openxmlformats.org/officeDocument/2006/relationships/image" Target="../media/image10.png"/><Relationship Id="rId10" Type="http://schemas.openxmlformats.org/officeDocument/2006/relationships/image" Target="../media/image21.png"/><Relationship Id="rId11" Type="http://schemas.openxmlformats.org/officeDocument/2006/relationships/image" Target="../media/image12.png"/><Relationship Id="rId12" Type="http://schemas.openxmlformats.org/officeDocument/2006/relationships/image" Target="../media/image26.png"/><Relationship Id="rId13" Type="http://schemas.openxmlformats.org/officeDocument/2006/relationships/image" Target="../media/image30.png"/><Relationship Id="rId14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"/>
          <p:cNvPicPr preferRelativeResize="0"/>
          <p:nvPr/>
        </p:nvPicPr>
        <p:blipFill rotWithShape="1">
          <a:blip r:embed="rId4">
            <a:alphaModFix/>
          </a:blip>
          <a:srcRect b="22927" l="24976" r="24976" t="22927"/>
          <a:stretch/>
        </p:blipFill>
        <p:spPr>
          <a:xfrm>
            <a:off x="10207572" y="105521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 txBox="1"/>
          <p:nvPr/>
        </p:nvSpPr>
        <p:spPr>
          <a:xfrm>
            <a:off x="391886" y="296863"/>
            <a:ext cx="3170298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 reservada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045101" y="2493779"/>
            <a:ext cx="9608385" cy="175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142"/>
              </a:buClr>
              <a:buSzPts val="3200"/>
              <a:buFont typeface="Calibri"/>
              <a:buNone/>
            </a:pPr>
            <a:r>
              <a:t/>
            </a:r>
            <a:endParaRPr b="1" i="0" sz="3200" u="none" cap="none" strike="noStrike">
              <a:solidFill>
                <a:srgbClr val="00AE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96" name="Google Shape;96;p1"/>
          <p:cNvSpPr txBox="1"/>
          <p:nvPr>
            <p:ph type="ctrTitle"/>
          </p:nvPr>
        </p:nvSpPr>
        <p:spPr>
          <a:xfrm>
            <a:off x="1277281" y="2365187"/>
            <a:ext cx="9144000" cy="201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Arial"/>
              <a:buNone/>
            </a:pPr>
            <a:r>
              <a:rPr b="1" lang="es-CO" sz="4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Sistema Web de Agendamiento y Gestión de Servicios de Reparación Técnica (Servitech-app) </a:t>
            </a:r>
            <a:endParaRPr b="1" sz="40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99750" y="4029230"/>
            <a:ext cx="1282500" cy="1299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"/>
          <p:cNvPicPr preferRelativeResize="0"/>
          <p:nvPr/>
        </p:nvPicPr>
        <p:blipFill rotWithShape="1">
          <a:blip r:embed="rId4">
            <a:alphaModFix/>
          </a:blip>
          <a:srcRect b="22927" l="24976" r="24976" t="22927"/>
          <a:stretch/>
        </p:blipFill>
        <p:spPr>
          <a:xfrm>
            <a:off x="10207572" y="105521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"/>
          <p:cNvSpPr txBox="1"/>
          <p:nvPr/>
        </p:nvSpPr>
        <p:spPr>
          <a:xfrm>
            <a:off x="391886" y="296863"/>
            <a:ext cx="3170298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 reservada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1018101" y="2493779"/>
            <a:ext cx="96084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142"/>
              </a:buClr>
              <a:buSzPts val="3200"/>
              <a:buFont typeface="Calibri"/>
              <a:buNone/>
            </a:pPr>
            <a:r>
              <a:t/>
            </a:r>
            <a:endParaRPr b="1" i="0" sz="3200" u="none" cap="none" strike="noStrike">
              <a:solidFill>
                <a:srgbClr val="00AE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05" name="Google Shape;105;p2"/>
          <p:cNvSpPr txBox="1"/>
          <p:nvPr>
            <p:ph type="ctrTitle"/>
          </p:nvPr>
        </p:nvSpPr>
        <p:spPr>
          <a:xfrm>
            <a:off x="1524000" y="1118804"/>
            <a:ext cx="9144000" cy="200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Arial"/>
              <a:buNone/>
            </a:pPr>
            <a:r>
              <a:rPr b="1" lang="es-CO" sz="4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Sistema Web de Agendamiento y Gestión de Servicios de Reparación Técnica (Servitech-app) </a:t>
            </a:r>
            <a:endParaRPr b="1" sz="36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4412393" y="3789379"/>
            <a:ext cx="3367200" cy="14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CO" sz="17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APRENDICES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O" sz="1700">
                <a:solidFill>
                  <a:schemeClr val="accent5"/>
                </a:solidFill>
              </a:rPr>
              <a:t>Juan Bayona</a:t>
            </a:r>
            <a:endParaRPr sz="1700">
              <a:solidFill>
                <a:schemeClr val="accent5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O" sz="1700">
                <a:solidFill>
                  <a:schemeClr val="accent5"/>
                </a:solidFill>
              </a:rPr>
              <a:t>Cristian Contreras</a:t>
            </a:r>
            <a:endParaRPr sz="1700">
              <a:solidFill>
                <a:schemeClr val="accent5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O" sz="1700">
                <a:solidFill>
                  <a:schemeClr val="accent5"/>
                </a:solidFill>
              </a:rPr>
              <a:t>Emmanuel Flores</a:t>
            </a:r>
            <a:endParaRPr sz="1700">
              <a:solidFill>
                <a:schemeClr val="accent5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O" sz="1700">
                <a:solidFill>
                  <a:schemeClr val="accent5"/>
                </a:solidFill>
              </a:rPr>
              <a:t>Breyner  Peña </a:t>
            </a:r>
            <a:endParaRPr sz="1700">
              <a:solidFill>
                <a:schemeClr val="accent5"/>
              </a:solidFill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4412411" y="5363736"/>
            <a:ext cx="3352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O" sz="1800">
                <a:solidFill>
                  <a:schemeClr val="accent5"/>
                </a:solidFill>
              </a:rPr>
              <a:t>Septiembre </a:t>
            </a:r>
            <a:r>
              <a:rPr b="0" i="0" lang="es-CO" sz="1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18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71325" y="4910450"/>
            <a:ext cx="986548" cy="99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/>
          <p:nvPr/>
        </p:nvSpPr>
        <p:spPr>
          <a:xfrm>
            <a:off x="1518010" y="2886638"/>
            <a:ext cx="94779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Calibri"/>
              <a:buNone/>
            </a:pPr>
            <a:r>
              <a:rPr b="1" lang="es-CO" sz="6000">
                <a:solidFill>
                  <a:schemeClr val="accent5"/>
                </a:solidFill>
              </a:rPr>
              <a:t>FORMULACIÓN</a:t>
            </a:r>
            <a:r>
              <a:rPr b="1" i="0" lang="es-CO" sz="6000" u="none" cap="none" strike="noStrike">
                <a:solidFill>
                  <a:schemeClr val="accent5"/>
                </a:solidFill>
              </a:rPr>
              <a:t> DEL PROYECTO</a:t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2521575" y="1751775"/>
            <a:ext cx="538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500"/>
              <a:t>FASE 01 </a:t>
            </a:r>
            <a:endParaRPr b="1" sz="2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 txBox="1"/>
          <p:nvPr>
            <p:ph type="title"/>
          </p:nvPr>
        </p:nvSpPr>
        <p:spPr>
          <a:xfrm>
            <a:off x="67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Arial"/>
              <a:buNone/>
              <a:defRPr sz="2800" b="1">
                <a:solidFill>
                  <a:srgbClr val="16161E"/>
                </a:solidFill>
                <a:latin typeface="Arial"/>
              </a:defRPr>
            </a:pPr>
            <a:r>
              <a:t>Planteamiento del Problema</a:t>
            </a:r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841248" y="1691640"/>
            <a:ext cx="105156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550" b="0">
                <a:solidFill>
                  <a:srgbClr val="16161E"/>
                </a:solidFill>
                <a:latin typeface="Arial"/>
              </a:defRPr>
            </a:pPr>
            <a:r>
              <a:t>En los talleres de servicio técnico no existe un sistema centralizado para gestionar turnos, citas y órdenes de reparación, lo que provoca:</a:t>
            </a:r>
          </a:p>
          <a:p>
            <a:pPr>
              <a:spcAft>
                <a:spcPts val="600"/>
              </a:spcAft>
              <a:defRPr sz="1400">
                <a:solidFill>
                  <a:srgbClr val="16161E"/>
                </a:solidFill>
                <a:latin typeface="Arial"/>
              </a:defRPr>
            </a:pPr>
            <a:r>
              <a:t>• Gestión dispersa en cuadernos manuales, WhatsApp y hojas de cálculo no sincronizadas.</a:t>
            </a:r>
          </a:p>
          <a:p>
            <a:pPr>
              <a:spcAft>
                <a:spcPts val="600"/>
              </a:spcAft>
              <a:defRPr sz="1400">
                <a:solidFill>
                  <a:srgbClr val="16161E"/>
                </a:solidFill>
                <a:latin typeface="Arial"/>
              </a:defRPr>
            </a:pPr>
            <a:r>
              <a:t>• Largos tiempos de espera presenciales e incertidumbre en la fecha de entrega para los clientes.</a:t>
            </a:r>
          </a:p>
          <a:p>
            <a:pPr>
              <a:spcAft>
                <a:spcPts val="600"/>
              </a:spcAft>
              <a:defRPr sz="1400">
                <a:solidFill>
                  <a:srgbClr val="16161E"/>
                </a:solidFill>
                <a:latin typeface="Arial"/>
              </a:defRPr>
            </a:pPr>
            <a:r>
              <a:t>• Falta de trazabilidad en el estado del equipo dentro de los boxes técnicos (recepción, diagnóstico, reparación, entrega).</a:t>
            </a:r>
          </a:p>
          <a:p>
            <a:pPr>
              <a:spcAft>
                <a:spcPts val="600"/>
              </a:spcAft>
              <a:defRPr sz="1400">
                <a:solidFill>
                  <a:srgbClr val="16161E"/>
                </a:solidFill>
                <a:latin typeface="Arial"/>
              </a:defRPr>
            </a:pPr>
            <a:r>
              <a:t>• Mala coordinación operativa, tiempos muertos en mesas de trabajo y retrasos no notificados al cliente.</a:t>
            </a:r>
          </a:p>
          <a:p>
            <a:pPr>
              <a:spcAft>
                <a:spcPts val="600"/>
              </a:spcAft>
              <a:defRPr sz="1400">
                <a:solidFill>
                  <a:srgbClr val="16161E"/>
                </a:solidFill>
                <a:latin typeface="Arial"/>
              </a:defRPr>
            </a:pPr>
            <a:r>
              <a:t>• Descontrol en el inventario de repuestos utilizados y mermas operativas en el taller.</a:t>
            </a:r>
          </a:p>
          <a:p>
            <a:pPr>
              <a:spcBef>
                <a:spcPts val="1000"/>
              </a:spcBef>
              <a:defRPr sz="1450" b="1">
                <a:solidFill>
                  <a:srgbClr val="16161E"/>
                </a:solidFill>
                <a:latin typeface="Arial"/>
              </a:defRPr>
            </a:pPr>
            <a:r>
              <a:t>Solución: Desarrollar e implementar una plataforma web integral que centralice el agendamiento 24/7, la trazabilidad de turnos en boxes y el control de inventario en tiempo real.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Arial"/>
              <a:buNone/>
              <a:defRPr sz="2800" b="1">
                <a:solidFill>
                  <a:srgbClr val="16161E"/>
                </a:solidFill>
                <a:latin typeface="Arial"/>
              </a:defRPr>
            </a:pPr>
            <a:r>
              <a:t>Justificación</a:t>
            </a:r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841248" y="16459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>
                <a:solidFill>
                  <a:srgbClr val="16161E"/>
                </a:solidFill>
                <a:latin typeface="Arial"/>
              </a:defRPr>
            </a:pPr>
            <a:r>
              <a:t>Se propone implementar una plataforma de software integral que consolide la atención al cliente y la operación técnica:</a:t>
            </a:r>
          </a:p>
        </p:txBody>
      </p:sp>
      <p:graphicFrame>
        <p:nvGraphicFramePr>
          <p:cNvPr id="127" name="Table 126"/>
          <p:cNvGraphicFramePr>
            <a:graphicFrameLocks noGrp="1"/>
          </p:cNvGraphicFramePr>
          <p:nvPr/>
        </p:nvGraphicFramePr>
        <p:xfrm>
          <a:off x="841248" y="219456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576072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Necesidad Identificada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Solución Implementada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Información dispersa en registros físicos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Unificación en base de datos relacional centralizada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Incertidumbre en tiempos de entrega y SLA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Cálculo automático de duración (45-90 min) y seguimiento en vivo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Retrasos imprevistos e inasistencias de clientes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Botón de aviso 'Llegaré tarde' (+15 min) y reasignación a walk-ins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Tiempos muertos y desorganización de boxes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Panel operativo con estados en tiempo real (Disponible, En Servicio, Pausa)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Descontrol de inventario y mermas de repuestos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Kardex automatizado de repuestos asociado a cada orden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Riesgo de manipulación y alteración de datos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Auditoría transaccional automática inmutable con triggers PostgreSQL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Arial"/>
              <a:buNone/>
              <a:defRPr sz="2800" b="1">
                <a:solidFill>
                  <a:srgbClr val="16161E"/>
                </a:solidFill>
                <a:latin typeface="Arial"/>
              </a:defRPr>
            </a:pPr>
            <a:r>
              <a:t>Objetivo General</a:t>
            </a:r>
            <a:endParaRPr/>
          </a:p>
        </p:txBody>
      </p:sp>
      <p:pic>
        <p:nvPicPr>
          <p:cNvPr id="134" name="Google Shape;134;p6"/>
          <p:cNvPicPr preferRelativeResize="0"/>
          <p:nvPr/>
        </p:nvPicPr>
        <p:blipFill rotWithShape="1">
          <a:blip r:embed="rId3">
            <a:alphaModFix/>
          </a:blip>
          <a:srcRect b="22930" l="24974" r="24979" t="22925"/>
          <a:stretch/>
        </p:blipFill>
        <p:spPr>
          <a:xfrm>
            <a:off x="11037350" y="296873"/>
            <a:ext cx="795175" cy="78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TextBox 134"/>
          <p:cNvSpPr txBox="1"/>
          <p:nvPr/>
        </p:nvSpPr>
        <p:spPr>
          <a:xfrm>
            <a:off x="1097280" y="2103120"/>
            <a:ext cx="9875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6161E"/>
                </a:solidFill>
                <a:latin typeface="Arial"/>
              </a:defRPr>
            </a:pPr>
            <a:r>
              <a:t>Desarrollar e implementar un sistema web centralizado para la gestión integral de citas, turnos de atención técnica y control de reparaciones en talleres de servicio técnico, mejorando la eficiencia operativa, el cumplimiento de los tiempos de entrega (SLA) y la trazabilidad del cliente.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  <a:defRPr sz="2800" b="1">
                <a:solidFill>
                  <a:srgbClr val="16161E"/>
                </a:solidFill>
                <a:latin typeface="Arial"/>
              </a:defRPr>
            </a:pPr>
            <a:r>
              <a:t>Objetivos Específicos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841248" y="16916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6161E"/>
                </a:solidFill>
                <a:latin typeface="Arial"/>
              </a:defRPr>
            </a:pPr>
            <a:r>
              <a:t>Del proyecto:</a:t>
            </a:r>
          </a:p>
          <a:p>
            <a:pPr>
              <a:spcAft>
                <a:spcPts val="600"/>
              </a:spcAft>
              <a:defRPr sz="1350">
                <a:solidFill>
                  <a:srgbClr val="16161E"/>
                </a:solidFill>
                <a:latin typeface="Arial"/>
              </a:defRPr>
            </a:pPr>
            <a:r>
              <a:t>• Optimizar la recepción y asignación de equipos según disponibilidad técnica.</a:t>
            </a:r>
          </a:p>
          <a:p>
            <a:pPr>
              <a:spcAft>
                <a:spcPts val="600"/>
              </a:spcAft>
              <a:defRPr sz="1350">
                <a:solidFill>
                  <a:srgbClr val="16161E"/>
                </a:solidFill>
                <a:latin typeface="Arial"/>
              </a:defRPr>
            </a:pPr>
            <a:r>
              <a:t>• Reducir los tiempos muertos en los boxes de trabajo del taller.</a:t>
            </a:r>
          </a:p>
          <a:p>
            <a:pPr>
              <a:spcAft>
                <a:spcPts val="600"/>
              </a:spcAft>
              <a:defRPr sz="1350">
                <a:solidFill>
                  <a:srgbClr val="16161E"/>
                </a:solidFill>
                <a:latin typeface="Arial"/>
              </a:defRPr>
            </a:pPr>
            <a:r>
              <a:t>• Eliminar la incertidumbre de tiempos de entrega mediante acuerdos SLA.</a:t>
            </a:r>
          </a:p>
          <a:p>
            <a:pPr>
              <a:spcAft>
                <a:spcPts val="600"/>
              </a:spcAft>
              <a:defRPr sz="1350">
                <a:solidFill>
                  <a:srgbClr val="16161E"/>
                </a:solidFill>
                <a:latin typeface="Arial"/>
              </a:defRPr>
            </a:pPr>
            <a:r>
              <a:t>• Controlar el inventario de repuestos y reducir mermas operativas.</a:t>
            </a:r>
          </a:p>
          <a:p>
            <a:pPr>
              <a:spcAft>
                <a:spcPts val="600"/>
              </a:spcAft>
              <a:defRPr sz="1350">
                <a:solidFill>
                  <a:srgbClr val="16161E"/>
                </a:solidFill>
                <a:latin typeface="Arial"/>
              </a:defRPr>
            </a:pPr>
            <a:r>
              <a:t>• Mejorar la satisfacción del cliente eliminando filas presenciales.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36208" y="169164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6161E"/>
                </a:solidFill>
                <a:latin typeface="Arial"/>
              </a:defRPr>
            </a:pPr>
            <a:r>
              <a:t>Del Sistema:</a:t>
            </a:r>
          </a:p>
          <a:p>
            <a:pPr>
              <a:spcAft>
                <a:spcPts val="500"/>
              </a:spcAft>
              <a:defRPr sz="1350">
                <a:solidFill>
                  <a:srgbClr val="16161E"/>
                </a:solidFill>
                <a:latin typeface="Arial"/>
              </a:defRPr>
            </a:pPr>
            <a:r>
              <a:t>• Desarrollar un módulo de agendamiento 24/7 con validación en tiempo real.</a:t>
            </a:r>
          </a:p>
          <a:p>
            <a:pPr>
              <a:spcAft>
                <a:spcPts val="500"/>
              </a:spcAft>
              <a:defRPr sz="1350">
                <a:solidFill>
                  <a:srgbClr val="16161E"/>
                </a:solidFill>
                <a:latin typeface="Arial"/>
              </a:defRPr>
            </a:pPr>
            <a:r>
              <a:t>• Construir el panel operativo de boxes con control de turnos y estados.</a:t>
            </a:r>
          </a:p>
          <a:p>
            <a:pPr>
              <a:spcAft>
                <a:spcPts val="500"/>
              </a:spcAft>
              <a:defRPr sz="1350">
                <a:solidFill>
                  <a:srgbClr val="16161E"/>
                </a:solidFill>
                <a:latin typeface="Arial"/>
              </a:defRPr>
            </a:pPr>
            <a:r>
              <a:t>• Implementar el enlace de contingencia 'Llegaré tarde' (+15 min).</a:t>
            </a:r>
          </a:p>
          <a:p>
            <a:pPr>
              <a:spcAft>
                <a:spcPts val="500"/>
              </a:spcAft>
              <a:defRPr sz="1350">
                <a:solidFill>
                  <a:srgbClr val="16161E"/>
                </a:solidFill>
                <a:latin typeface="Arial"/>
              </a:defRPr>
            </a:pPr>
            <a:r>
              <a:t>• Integrar el módulo de catálogo de servicios con tiempos SLA configurables.</a:t>
            </a:r>
          </a:p>
          <a:p>
            <a:pPr>
              <a:spcAft>
                <a:spcPts val="500"/>
              </a:spcAft>
              <a:defRPr sz="1350">
                <a:solidFill>
                  <a:srgbClr val="16161E"/>
                </a:solidFill>
                <a:latin typeface="Arial"/>
              </a:defRPr>
            </a:pPr>
            <a:r>
              <a:t>• Configurar la auditoría transaccional inmutable mediante triggers PostgreSQL.</a:t>
            </a:r>
          </a:p>
          <a:p>
            <a:pPr>
              <a:spcAft>
                <a:spcPts val="500"/>
              </a:spcAft>
              <a:defRPr sz="1350">
                <a:solidFill>
                  <a:srgbClr val="16161E"/>
                </a:solidFill>
                <a:latin typeface="Arial"/>
              </a:defRPr>
            </a:pPr>
            <a:r>
              <a:t>• Diseñar una interfaz intuitiva, accesible y multidispositivo.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  <a:defRPr sz="2800" b="1">
                <a:solidFill>
                  <a:srgbClr val="16161E"/>
                </a:solidFill>
                <a:latin typeface="Arial"/>
              </a:defRPr>
            </a:pPr>
            <a:r>
              <a:t>Alcance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841248" y="16916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>
                <a:solidFill>
                  <a:srgbClr val="16161E"/>
                </a:solidFill>
                <a:latin typeface="Arial"/>
              </a:defRPr>
            </a:pPr>
            <a:r>
              <a:t>• Registro y autenticación de usuarios con control de roles (Administrador, Jefe de Taller, Técnico N1-N3, Cliente).</a:t>
            </a:r>
          </a:p>
          <a:p>
            <a:pPr>
              <a:spcAft>
                <a:spcPts val="600"/>
              </a:spcAft>
              <a:defRPr sz="1350">
                <a:solidFill>
                  <a:srgbClr val="16161E"/>
                </a:solidFill>
                <a:latin typeface="Arial"/>
              </a:defRPr>
            </a:pPr>
            <a:r>
              <a:t>• Motor de agendamiento 24/7 con selección de tipo de dispositivo, servicio requerido, técnico y franja horaria.</a:t>
            </a:r>
          </a:p>
          <a:p>
            <a:pPr>
              <a:spcAft>
                <a:spcPts val="600"/>
              </a:spcAft>
              <a:defRPr sz="1350">
                <a:solidFill>
                  <a:srgbClr val="16161E"/>
                </a:solidFill>
                <a:latin typeface="Arial"/>
              </a:defRPr>
            </a:pPr>
            <a:r>
              <a:t>• Panel de control técnico en tiempo real para asignación de turnos, inicio de servicio, pausas e incidencias en boxes.</a:t>
            </a:r>
          </a:p>
          <a:p>
            <a:pPr>
              <a:spcAft>
                <a:spcPts val="600"/>
              </a:spcAft>
              <a:defRPr sz="1350">
                <a:solidFill>
                  <a:srgbClr val="16161E"/>
                </a:solidFill>
                <a:latin typeface="Arial"/>
              </a:defRPr>
            </a:pPr>
            <a:r>
              <a:t>• Sistema de contingencias con notificación de retrasos ('Llegaré tarde') y reasignación automática para clientes presenciales (walk-ins).</a:t>
            </a:r>
          </a:p>
          <a:p>
            <a:pPr>
              <a:spcAft>
                <a:spcPts val="600"/>
              </a:spcAft>
              <a:defRPr sz="1350">
                <a:solidFill>
                  <a:srgbClr val="16161E"/>
                </a:solidFill>
                <a:latin typeface="Arial"/>
              </a:defRPr>
            </a:pPr>
            <a:r>
              <a:t>• Gestión de catálogo de servicios con parametrización de costos base, duraciones estimadas (45-90 min) y buffer SLA.</a:t>
            </a:r>
          </a:p>
          <a:p>
            <a:pPr>
              <a:spcAft>
                <a:spcPts val="600"/>
              </a:spcAft>
              <a:defRPr sz="1350">
                <a:solidFill>
                  <a:srgbClr val="16161E"/>
                </a:solidFill>
                <a:latin typeface="Arial"/>
              </a:defRPr>
            </a:pPr>
            <a:r>
              <a:t>• Módulo de inventario y Kardex de repuestos vinculado a las órdenes de trabajo ejecutadas.</a:t>
            </a:r>
          </a:p>
          <a:p>
            <a:pPr>
              <a:spcAft>
                <a:spcPts val="600"/>
              </a:spcAft>
              <a:defRPr sz="1350">
                <a:solidFill>
                  <a:srgbClr val="16161E"/>
                </a:solidFill>
                <a:latin typeface="Arial"/>
              </a:defRPr>
            </a:pPr>
            <a:r>
              <a:t>• Módulo de auditoría transaccional inmutable en PostgreSQL con registro de operaciones e historial JSONB.</a:t>
            </a:r>
          </a:p>
          <a:p>
            <a:pPr>
              <a:spcAft>
                <a:spcPts val="600"/>
              </a:spcAft>
              <a:defRPr sz="1350">
                <a:solidFill>
                  <a:srgbClr val="16161E"/>
                </a:solidFill>
                <a:latin typeface="Arial"/>
              </a:defRPr>
            </a:pPr>
            <a:r>
              <a:t>• Generación de reportes analíticos de productividad técnica y cumplimiento de SLA exportables en Excel y PDF.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  <a:defRPr sz="2800" b="1">
                <a:solidFill>
                  <a:srgbClr val="16161E"/>
                </a:solidFill>
                <a:latin typeface="Arial"/>
              </a:defRPr>
            </a:pPr>
            <a:r>
              <a:t>Riesgos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841248" y="16916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6161E"/>
                </a:solidFill>
                <a:latin typeface="Arial"/>
              </a:defRPr>
            </a:pPr>
            <a:r>
              <a:t>• Resistencia al cambio por parte de clientes o personal técnico acostumbrados a la gestión en papel.</a:t>
            </a:r>
          </a:p>
          <a:p>
            <a:pPr>
              <a:spcAft>
                <a:spcPts val="800"/>
              </a:spcAft>
              <a:defRPr sz="1400">
                <a:solidFill>
                  <a:srgbClr val="16161E"/>
                </a:solidFill>
                <a:latin typeface="Arial"/>
              </a:defRPr>
            </a:pPr>
            <a:r>
              <a:t>• Interrupción o caídas temporales de la conectividad a internet en el establecimiento del taller.</a:t>
            </a:r>
          </a:p>
          <a:p>
            <a:pPr>
              <a:spcAft>
                <a:spcPts val="800"/>
              </a:spcAft>
              <a:defRPr sz="1400">
                <a:solidFill>
                  <a:srgbClr val="16161E"/>
                </a:solidFill>
                <a:latin typeface="Arial"/>
              </a:defRPr>
            </a:pPr>
            <a:r>
              <a:t>• Daño, obsolescencia o incompatibilidad de hardware en las estaciones de boxes de trabajo.</a:t>
            </a:r>
          </a:p>
          <a:p>
            <a:pPr>
              <a:spcAft>
                <a:spcPts val="800"/>
              </a:spcAft>
              <a:defRPr sz="1400">
                <a:solidFill>
                  <a:srgbClr val="16161E"/>
                </a:solidFill>
                <a:latin typeface="Arial"/>
              </a:defRPr>
            </a:pPr>
            <a:r>
              <a:t>• Desabastecimiento de repuestos críticos por demoras de proveedores externos.</a:t>
            </a:r>
          </a:p>
          <a:p>
            <a:pPr>
              <a:spcAft>
                <a:spcPts val="800"/>
              </a:spcAft>
              <a:defRPr sz="1400">
                <a:solidFill>
                  <a:srgbClr val="16161E"/>
                </a:solidFill>
                <a:latin typeface="Arial"/>
              </a:defRPr>
            </a:pPr>
            <a:r>
              <a:t>• Omisión operativa de los técnicos al no actualizar oportunamente los estados de las órdenes.</a:t>
            </a:r>
          </a:p>
          <a:p>
            <a:pPr>
              <a:spcAft>
                <a:spcPts val="800"/>
              </a:spcAft>
              <a:defRPr sz="1400">
                <a:solidFill>
                  <a:srgbClr val="16161E"/>
                </a:solidFill>
                <a:latin typeface="Arial"/>
              </a:defRPr>
            </a:pPr>
            <a:r>
              <a:t>• Sobrecarga de concurrencia y peticiones simultáneas en horas pico de reservas.</a:t>
            </a:r>
          </a:p>
          <a:p>
            <a:pPr>
              <a:spcAft>
                <a:spcPts val="800"/>
              </a:spcAft>
              <a:defRPr sz="1400">
                <a:solidFill>
                  <a:srgbClr val="16161E"/>
                </a:solidFill>
                <a:latin typeface="Arial"/>
              </a:defRPr>
            </a:pPr>
            <a:r>
              <a:t>• Incumplimiento de hitos en el cronograma de desarrollo y pruebas de integración.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  <a:defRPr sz="2800" b="1">
                <a:solidFill>
                  <a:srgbClr val="16161E"/>
                </a:solidFill>
                <a:latin typeface="Arial"/>
              </a:defRPr>
            </a:pPr>
            <a:r>
              <a:t>Restricciones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841248" y="16916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6161E"/>
                </a:solidFill>
                <a:latin typeface="Arial"/>
              </a:defRPr>
            </a:pPr>
            <a:r>
              <a:t>• Plazo estricto de desarrollo ajustado al cronograma académico del proyecto formativo SENA.</a:t>
            </a:r>
          </a:p>
          <a:p>
            <a:pPr>
              <a:spcAft>
                <a:spcPts val="800"/>
              </a:spcAft>
              <a:defRPr sz="1400">
                <a:solidFill>
                  <a:srgbClr val="16161E"/>
                </a:solidFill>
                <a:latin typeface="Arial"/>
              </a:defRPr>
            </a:pPr>
            <a:r>
              <a:t>• Stack tecnológico obligatorio: Python 3.12, Django 5.x, PostgreSQL 16 y TailwindCSS.</a:t>
            </a:r>
          </a:p>
          <a:p>
            <a:pPr>
              <a:spcAft>
                <a:spcPts val="800"/>
              </a:spcAft>
              <a:defRPr sz="1400">
                <a:solidFill>
                  <a:srgbClr val="16161E"/>
                </a:solidFill>
                <a:latin typeface="Arial"/>
              </a:defRPr>
            </a:pPr>
            <a:r>
              <a:t>• Requisito de ejecución en navegadores web modernos (Chrome, Firefox, Edge) sin instalación de software cliente.</a:t>
            </a:r>
          </a:p>
          <a:p>
            <a:pPr>
              <a:spcAft>
                <a:spcPts val="800"/>
              </a:spcAft>
              <a:defRPr sz="1400">
                <a:solidFill>
                  <a:srgbClr val="16161E"/>
                </a:solidFill>
                <a:latin typeface="Arial"/>
              </a:defRPr>
            </a:pPr>
            <a:r>
              <a:t>• Cumplimiento obligatorio de la Ley 1581 de 2012 de Protección de Datos Personales (Habeas Data).</a:t>
            </a:r>
          </a:p>
          <a:p>
            <a:pPr>
              <a:spcAft>
                <a:spcPts val="800"/>
              </a:spcAft>
              <a:defRPr sz="1400">
                <a:solidFill>
                  <a:srgbClr val="16161E"/>
                </a:solidFill>
                <a:latin typeface="Arial"/>
              </a:defRPr>
            </a:pPr>
            <a:r>
              <a:t>• Arquitectura optimizada para tiempos de respuesta web inferiores a 200 ms y sobrecarga de auditoría menor a 5 ms.</a:t>
            </a:r>
          </a:p>
          <a:p>
            <a:pPr>
              <a:spcAft>
                <a:spcPts val="800"/>
              </a:spcAft>
              <a:defRPr sz="1400">
                <a:solidFill>
                  <a:srgbClr val="16161E"/>
                </a:solidFill>
                <a:latin typeface="Arial"/>
              </a:defRPr>
            </a:pPr>
            <a:r>
              <a:t>• Acceso restringido por roles y permisos diferenciados (Administrador, Jefe de Taller, Técnico, Cliente).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85abcdf13_0_7"/>
          <p:cNvSpPr txBox="1"/>
          <p:nvPr>
            <p:ph type="title"/>
          </p:nvPr>
        </p:nvSpPr>
        <p:spPr>
          <a:xfrm>
            <a:off x="399075" y="112850"/>
            <a:ext cx="55038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Cronograma: </a:t>
            </a:r>
            <a:endParaRPr b="1"/>
          </a:p>
        </p:txBody>
      </p:sp>
      <p:pic>
        <p:nvPicPr>
          <p:cNvPr id="165" name="Google Shape;165;g3f85abcdf13_0_7"/>
          <p:cNvPicPr preferRelativeResize="0"/>
          <p:nvPr/>
        </p:nvPicPr>
        <p:blipFill rotWithShape="1">
          <a:blip r:embed="rId3">
            <a:alphaModFix/>
          </a:blip>
          <a:srcRect b="22930" l="24974" r="24979" t="22925"/>
          <a:stretch/>
        </p:blipFill>
        <p:spPr>
          <a:xfrm>
            <a:off x="11026773" y="365126"/>
            <a:ext cx="756150" cy="74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g3f85abcdf13_0_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6250" y="1072150"/>
            <a:ext cx="8605198" cy="5736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"/>
          <p:cNvSpPr txBox="1"/>
          <p:nvPr/>
        </p:nvSpPr>
        <p:spPr>
          <a:xfrm>
            <a:off x="1159625" y="3081824"/>
            <a:ext cx="91440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Calibri"/>
              <a:buNone/>
            </a:pPr>
            <a:r>
              <a:rPr b="1" lang="es-CO" sz="6000">
                <a:solidFill>
                  <a:schemeClr val="accent5"/>
                </a:solidFill>
              </a:rPr>
              <a:t>ANÁLISIS</a:t>
            </a:r>
            <a:endParaRPr b="1" i="0" sz="6000" u="none" cap="none" strike="noStrike">
              <a:solidFill>
                <a:schemeClr val="dk1"/>
              </a:solidFill>
            </a:endParaRPr>
          </a:p>
        </p:txBody>
      </p:sp>
      <p:sp>
        <p:nvSpPr>
          <p:cNvPr id="172" name="Google Shape;172;p12"/>
          <p:cNvSpPr txBox="1"/>
          <p:nvPr/>
        </p:nvSpPr>
        <p:spPr>
          <a:xfrm>
            <a:off x="4083000" y="2406050"/>
            <a:ext cx="2013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500"/>
              <a:t>FASE 02</a:t>
            </a:r>
            <a:endParaRPr b="1" sz="2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  <a:defRPr sz="2800" b="1">
                <a:solidFill>
                  <a:srgbClr val="16161E"/>
                </a:solidFill>
                <a:latin typeface="Arial"/>
              </a:defRPr>
            </a:pPr>
            <a:r>
              <a:t>Ingeniería de Requisitos</a:t>
            </a:r>
            <a:endParaRPr b="1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841248" y="1691640"/>
            <a:ext cx="51206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6161E"/>
                </a:solidFill>
                <a:latin typeface="Arial"/>
              </a:defRPr>
            </a:pPr>
            <a:r>
              <a:t>Elicitación de requisitos</a:t>
            </a:r>
          </a:p>
          <a:p>
            <a:pPr>
              <a:spcAft>
                <a:spcPts val="1200"/>
              </a:spcAft>
              <a:defRPr sz="1600" b="1">
                <a:solidFill>
                  <a:srgbClr val="16161E"/>
                </a:solidFill>
                <a:latin typeface="Arial"/>
              </a:defRPr>
            </a:pPr>
            <a:r>
              <a:t>Fuentes identificadas</a:t>
            </a:r>
          </a:p>
          <a:p>
            <a:pPr>
              <a:spcAft>
                <a:spcPts val="800"/>
              </a:spcAft>
              <a:defRPr sz="1400">
                <a:solidFill>
                  <a:srgbClr val="16161E"/>
                </a:solidFill>
                <a:latin typeface="Arial"/>
              </a:defRPr>
            </a:pPr>
            <a:r>
              <a:t>• Personal técnico especializado del taller (Niveles N1, N2, N3).</a:t>
            </a:r>
          </a:p>
          <a:p>
            <a:pPr>
              <a:spcAft>
                <a:spcPts val="800"/>
              </a:spcAft>
              <a:defRPr sz="1400">
                <a:solidFill>
                  <a:srgbClr val="16161E"/>
                </a:solidFill>
                <a:latin typeface="Arial"/>
              </a:defRPr>
            </a:pPr>
            <a:r>
              <a:t>• Clientes particulares y empresas de servicio técnico.</a:t>
            </a:r>
          </a:p>
          <a:p>
            <a:pPr>
              <a:spcAft>
                <a:spcPts val="800"/>
              </a:spcAft>
              <a:defRPr sz="1400">
                <a:solidFill>
                  <a:srgbClr val="16161E"/>
                </a:solidFill>
                <a:latin typeface="Arial"/>
              </a:defRPr>
            </a:pPr>
            <a:r>
              <a:t>• Gerencia y propietarios del taller técnico.</a:t>
            </a:r>
          </a:p>
          <a:p>
            <a:pPr>
              <a:spcAft>
                <a:spcPts val="800"/>
              </a:spcAft>
              <a:defRPr sz="1400">
                <a:solidFill>
                  <a:srgbClr val="16161E"/>
                </a:solidFill>
                <a:latin typeface="Arial"/>
              </a:defRPr>
            </a:pPr>
            <a:r>
              <a:t>• Distribuidores y proveedores de repuestos y componentes.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236208" y="1691640"/>
            <a:ext cx="51206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800"/>
              </a:spcAft>
              <a:defRPr sz="2000" b="1">
                <a:solidFill>
                  <a:srgbClr val="16161E"/>
                </a:solidFill>
                <a:latin typeface="Arial"/>
              </a:defRPr>
            </a:pPr>
            <a:r>
              <a:t>Técnicas e instrumentos para elicitar</a:t>
            </a:r>
          </a:p>
          <a:p>
            <a:pPr>
              <a:spcAft>
                <a:spcPts val="800"/>
              </a:spcAft>
              <a:defRPr sz="1400">
                <a:solidFill>
                  <a:srgbClr val="16161E"/>
                </a:solidFill>
                <a:latin typeface="Arial"/>
              </a:defRPr>
            </a:pPr>
            <a:r>
              <a:t>• 3 encuestas: información general, historias de usuario y priorización de requisitos.</a:t>
            </a:r>
          </a:p>
          <a:p>
            <a:pPr>
              <a:spcAft>
                <a:spcPts val="800"/>
              </a:spcAft>
              <a:defRPr sz="1400">
                <a:solidFill>
                  <a:srgbClr val="16161E"/>
                </a:solidFill>
                <a:latin typeface="Arial"/>
              </a:defRPr>
            </a:pPr>
            <a:r>
              <a:t>• 2 entrevistas con administradores y técnicos de boxes (presencial y diagnóstico de SLA).</a:t>
            </a:r>
          </a:p>
          <a:p>
            <a:pPr>
              <a:spcAft>
                <a:spcPts val="800"/>
              </a:spcAft>
              <a:defRPr sz="1400">
                <a:solidFill>
                  <a:srgbClr val="16161E"/>
                </a:solidFill>
                <a:latin typeface="Arial"/>
              </a:defRPr>
            </a:pPr>
            <a:r>
              <a:t>• Observación directa del flujo de trabajo: recepción -&gt; diagnóstico -&gt; repuestos -&gt; entrega.</a:t>
            </a:r>
          </a:p>
          <a:p>
            <a:pPr>
              <a:spcAft>
                <a:spcPts val="800"/>
              </a:spcAft>
              <a:defRPr sz="1400">
                <a:solidFill>
                  <a:srgbClr val="16161E"/>
                </a:solidFill>
                <a:latin typeface="Arial"/>
              </a:defRPr>
            </a:pPr>
            <a:r>
              <a:t>• Digitalización y normalización de boletas de garantía físicas y cuadernos de turnos.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  <a:defRPr sz="2800" b="1">
                <a:solidFill>
                  <a:srgbClr val="16161E"/>
                </a:solidFill>
                <a:latin typeface="Arial"/>
              </a:defRPr>
            </a:pPr>
            <a:r>
              <a:t>Matriz Stakeholders</a:t>
            </a:r>
            <a:endParaRPr b="1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TextBox 182"/>
          <p:cNvSpPr txBox="1"/>
          <p:nvPr/>
        </p:nvSpPr>
        <p:spPr>
          <a:xfrm>
            <a:off x="841248" y="1691640"/>
            <a:ext cx="105156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16161E"/>
                </a:solidFill>
                <a:latin typeface="Arial"/>
              </a:rPr>
              <a:t>• 1. Satisfacer (Alto Poder / Bajo Interés): </a:t>
            </a:r>
            <a:r>
              <a:rPr sz="1400">
                <a:solidFill>
                  <a:srgbClr val="16161E"/>
                </a:solidFill>
                <a:latin typeface="Arial"/>
              </a:rPr>
              <a:t>Proveedores de Repuestos y Componentes — Distribuidores comerciales de pantallas y repuestos con acuerdos de SLA y gestión de garantías.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6161E"/>
                </a:solidFill>
                <a:latin typeface="Arial"/>
              </a:rPr>
              <a:t>• 2. Gestionar atentamente (Alto Poder / Alto Interés): </a:t>
            </a:r>
            <a:r>
              <a:rPr sz="1400">
                <a:solidFill>
                  <a:srgbClr val="16161E"/>
                </a:solidFill>
                <a:latin typeface="Arial"/>
              </a:rPr>
              <a:t>Gerente / Dueño del Taller (Administrador General) — Toma de decisiones estratégicas, rentabilidad, tarifas SLA, control total de mermas y auditoría contable.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6161E"/>
                </a:solidFill>
                <a:latin typeface="Arial"/>
              </a:rPr>
              <a:t>• 3. Informar / Comunicar (Bajo Poder / Alto Interés): </a:t>
            </a:r>
            <a:r>
              <a:rPr sz="1400">
                <a:solidFill>
                  <a:srgbClr val="16161E"/>
                </a:solidFill>
                <a:latin typeface="Arial"/>
              </a:rPr>
              <a:t>Jefe de Taller y Técnicos (N1, N2, N3) — Operación en boxes de trabajo, recepción de visitas presenciales (walk-ins) y cumplimiento de tiempos de entrega.
• Clientes Particulares y Empresas — Agendamiento autónomo 24/7, trazabilidad en vivo de tickets y notificación de retrasos.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6161E"/>
                </a:solidFill>
                <a:latin typeface="Arial"/>
              </a:rPr>
              <a:t>• 4. Monitorear (Bajo Poder / Bajo Interés): </a:t>
            </a:r>
            <a:r>
              <a:rPr sz="1400">
                <a:solidFill>
                  <a:srgbClr val="16161E"/>
                </a:solidFill>
                <a:latin typeface="Arial"/>
              </a:rPr>
              <a:t>Visitantes Web y Usuarios Ocasionales — Consulta pública de tarifas de catálogo y ubicación del taller sin registro activo.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  <a:defRPr sz="2800" b="1">
                <a:solidFill>
                  <a:srgbClr val="16161E"/>
                </a:solidFill>
                <a:latin typeface="Arial"/>
              </a:defRPr>
            </a:pPr>
            <a:r>
              <a:t>Herramienta para la Captura de Requisitos</a:t>
            </a:r>
            <a:endParaRPr b="1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1097280" y="1691640"/>
            <a:ext cx="9875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6161E"/>
                </a:solidFill>
                <a:latin typeface="Arial"/>
              </a:rPr>
              <a:t>HU01 - Agendamiento de servicio técnico.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6161E"/>
                </a:solidFill>
                <a:latin typeface="Arial"/>
              </a:rPr>
              <a:t>Como: </a:t>
            </a:r>
            <a:r>
              <a:rPr sz="1600" b="0">
                <a:solidFill>
                  <a:srgbClr val="16161E"/>
                </a:solidFill>
                <a:latin typeface="Arial"/>
              </a:rPr>
              <a:t>cliente.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6161E"/>
                </a:solidFill>
                <a:latin typeface="Arial"/>
              </a:rPr>
              <a:t>Quiero: </a:t>
            </a:r>
            <a:r>
              <a:rPr sz="1500" b="0">
                <a:solidFill>
                  <a:srgbClr val="16161E"/>
                </a:solidFill>
                <a:latin typeface="Arial"/>
              </a:rPr>
              <a:t>seleccionar mi tipo de dispositivo (Celular / Laptop / PC), el servicio requerido del catálogo y reservar una franja horaria disponible.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6161E"/>
                </a:solidFill>
                <a:latin typeface="Arial"/>
              </a:rPr>
              <a:t>Para: </a:t>
            </a:r>
            <a:r>
              <a:rPr sz="1500" b="0">
                <a:solidFill>
                  <a:srgbClr val="16161E"/>
                </a:solidFill>
                <a:latin typeface="Arial"/>
              </a:rPr>
              <a:t>asegurar la atención puntual de mi equipo en el taller sin hacer filas presenciales y conocer el tiempo estimado de entrega.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6161E"/>
                </a:solidFill>
                <a:latin typeface="Arial"/>
              </a:rPr>
              <a:t>Condiciones: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16161E"/>
                </a:solidFill>
                <a:latin typeface="Arial"/>
              </a:rPr>
              <a:t>• El sistema debe mostrar el catálogo de servicios con duraciones estimadas (45 a 90 min) y costo base.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16161E"/>
                </a:solidFill>
                <a:latin typeface="Arial"/>
              </a:rPr>
              <a:t>• El sistema debe validar en tiempo real la disponibilidad de la agenda del técnico evitando colisiones de turnos.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16161E"/>
                </a:solidFill>
                <a:latin typeface="Arial"/>
              </a:rPr>
              <a:t>• El sistema debe solicitar obligatoriamente marca, modelo y falla reportada del equipo antes de confirmar.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6161E"/>
                </a:solidFill>
                <a:latin typeface="Arial"/>
              </a:rPr>
              <a:t>• El sistema debe generar confirmación inmediata en pantalla con el número de cita y resumen del servicio.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16161E"/>
                </a:solidFill>
                <a:latin typeface="Arial"/>
              </a:rPr>
              <a:t>Prioridad: </a:t>
            </a:r>
            <a:r>
              <a:rPr sz="1600" b="0">
                <a:solidFill>
                  <a:srgbClr val="16161E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"/>
          <p:cNvSpPr txBox="1"/>
          <p:nvPr/>
        </p:nvSpPr>
        <p:spPr>
          <a:xfrm>
            <a:off x="460775" y="429750"/>
            <a:ext cx="115806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16161E"/>
                </a:solidFill>
                <a:latin typeface="Arial"/>
              </a:defRPr>
            </a:pPr>
            <a:r>
              <a:t>Herramienta para la Captura de Requisitos</a:t>
            </a:r>
            <a:endParaRPr b="1" sz="4400">
              <a:solidFill>
                <a:schemeClr val="accent5"/>
              </a:solidFill>
            </a:endParaRPr>
          </a:p>
        </p:txBody>
      </p:sp>
      <p:sp>
        <p:nvSpPr>
          <p:cNvPr id="193" name="TextBox 192"/>
          <p:cNvSpPr txBox="1"/>
          <p:nvPr/>
        </p:nvSpPr>
        <p:spPr>
          <a:xfrm>
            <a:off x="1097280" y="1691640"/>
            <a:ext cx="9875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6161E"/>
                </a:solidFill>
                <a:latin typeface="Arial"/>
              </a:rPr>
              <a:t>HU03 - Notificación de retraso en tiempo real.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6161E"/>
                </a:solidFill>
                <a:latin typeface="Arial"/>
              </a:rPr>
              <a:t>Como: </a:t>
            </a:r>
            <a:r>
              <a:rPr sz="1600" b="0">
                <a:solidFill>
                  <a:srgbClr val="16161E"/>
                </a:solidFill>
                <a:latin typeface="Arial"/>
              </a:rPr>
              <a:t>cliente con una cita agendada en el taller.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6161E"/>
                </a:solidFill>
                <a:latin typeface="Arial"/>
              </a:rPr>
              <a:t>Quiero: </a:t>
            </a:r>
            <a:r>
              <a:rPr sz="1500" b="0">
                <a:solidFill>
                  <a:srgbClr val="16161E"/>
                </a:solidFill>
                <a:latin typeface="Arial"/>
              </a:rPr>
              <a:t>presionar el botón 'Llegaré tarde (+10 / +15 min)' desde el enlace de recordatorio de mi turno.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6161E"/>
                </a:solidFill>
                <a:latin typeface="Arial"/>
              </a:rPr>
              <a:t>Para: </a:t>
            </a:r>
            <a:r>
              <a:rPr sz="1500" b="0">
                <a:solidFill>
                  <a:srgbClr val="16161E"/>
                </a:solidFill>
                <a:latin typeface="Arial"/>
              </a:rPr>
              <a:t>avisar al taller sobre mi demora y evitar que cancelen o liberen mi cupo de atención.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6161E"/>
                </a:solidFill>
                <a:latin typeface="Arial"/>
              </a:rPr>
              <a:t>Condiciones: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16161E"/>
                </a:solidFill>
                <a:latin typeface="Arial"/>
              </a:rPr>
              <a:t>• La acción debe realizarse mediante un enlace seguro de acceso directo al turno sin necesidad de login complejo.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16161E"/>
                </a:solidFill>
                <a:latin typeface="Arial"/>
              </a:rPr>
              <a:t>• El estado de la cita debe actualizarse automáticamente a 'Retrasado con Aviso' en el panel del técnico.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16161E"/>
                </a:solidFill>
                <a:latin typeface="Arial"/>
              </a:rPr>
              <a:t>• El sistema debe otorgar un margen de tolerancia de 15 minutos en la mesa de trabajo antes de marcar inasistencia.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6161E"/>
                </a:solidFill>
                <a:latin typeface="Arial"/>
              </a:rPr>
              <a:t>• En caso de cancelación por parte del cliente, el sistema debe liberar inmediatamente el cupo para clientes presenciales (walk-ins).</a:t>
            </a:r>
          </a:p>
          <a:p>
            <a:pPr>
              <a:spcAft>
                <a:spcPts val="0"/>
              </a:spcAft>
            </a:pPr>
            <a:r>
              <a:rPr sz="1600" b="1">
                <a:solidFill>
                  <a:srgbClr val="16161E"/>
                </a:solidFill>
                <a:latin typeface="Arial"/>
              </a:rPr>
              <a:t>Prioridad: </a:t>
            </a:r>
            <a:r>
              <a:rPr sz="1600" b="0">
                <a:solidFill>
                  <a:srgbClr val="16161E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  <a:defRPr sz="2800" b="1">
                <a:solidFill>
                  <a:srgbClr val="16161E"/>
                </a:solidFill>
                <a:latin typeface="Arial"/>
              </a:defRPr>
            </a:pPr>
            <a:r>
              <a:t>Requerimientos Funcionales</a:t>
            </a:r>
            <a:endParaRPr b="1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8" name="Table 197"/>
          <p:cNvGraphicFramePr>
            <a:graphicFrameLocks noGrp="1"/>
          </p:cNvGraphicFramePr>
          <p:nvPr/>
        </p:nvGraphicFramePr>
        <p:xfrm>
          <a:off x="841248" y="2011680"/>
          <a:ext cx="105156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474720"/>
                <a:gridCol w="4114800"/>
                <a:gridCol w="914400"/>
              </a:tblGrid>
              <a:tr h="19659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TIPO DE REQUISITO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DESCRIPCIÓN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CRITERIO DE ACEPTACIÓN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PRIORIDAD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196596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HU01-RF-05</a:t>
                      </a:r>
                    </a:p>
                    <a:p>
                      <a:pPr algn="ctr">
                        <a:defRPr sz="12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FUNCIONAL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El sistema debe registrar en el motor de agendamiento cada cita de servicio técnico en tiempo real.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Cada cita debe registrarse automáticamente en la base de datos relacional.</a:t>
                      </a:r>
                    </a:p>
                    <a:p>
                      <a:pPr>
                        <a:defRPr sz="12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La información registrada debe incluir:</a:t>
                      </a:r>
                    </a:p>
                    <a:p>
                      <a:pPr>
                        <a:defRPr sz="12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• ID único de la cita.</a:t>
                      </a:r>
                    </a:p>
                    <a:p>
                      <a:pPr>
                        <a:defRPr sz="12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• Nombre completo del cliente solicitante.</a:t>
                      </a:r>
                    </a:p>
                    <a:p>
                      <a:pPr>
                        <a:defRPr sz="12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• Dispositivo asociado (marca, modelo, serial/IMEI).</a:t>
                      </a:r>
                    </a:p>
                    <a:p>
                      <a:pPr>
                        <a:defRPr sz="12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• Servicio seleccionado y duración SLA estimada (45-90 min).</a:t>
                      </a:r>
                    </a:p>
                    <a:p>
                      <a:pPr>
                        <a:defRPr sz="12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• Técnico asignado (o modo 'Cualquier técnico').</a:t>
                      </a:r>
                    </a:p>
                    <a:p>
                      <a:pPr>
                        <a:defRPr sz="12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• Estado inicial de la orden (Confirmada).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25</a:t>
                      </a:r>
                    </a:p>
                  </a:txBody>
                  <a:tcPr anchor="ctr" marL="91440" marR="91440" marT="54864" marB="54864">
                    <a:solidFill>
                      <a:srgbClr val="FF808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  <a:defRPr sz="2800" b="1">
                <a:solidFill>
                  <a:srgbClr val="16161E"/>
                </a:solidFill>
                <a:latin typeface="Arial"/>
              </a:defRPr>
            </a:pPr>
            <a:r>
              <a:t>Requerimientos no Funcionales</a:t>
            </a:r>
            <a:endParaRPr b="1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TextBox 202"/>
          <p:cNvSpPr txBox="1"/>
          <p:nvPr/>
        </p:nvSpPr>
        <p:spPr>
          <a:xfrm>
            <a:off x="841248" y="16459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161E"/>
                </a:solidFill>
                <a:latin typeface="Arial"/>
              </a:defRPr>
            </a:pPr>
            <a:r>
              <a:t>Especificación de Requisito no Funcional RNF-03</a:t>
            </a:r>
          </a:p>
        </p:txBody>
      </p:sp>
      <p:graphicFrame>
        <p:nvGraphicFramePr>
          <p:cNvPr id="204" name="Table 203"/>
          <p:cNvGraphicFramePr>
            <a:graphicFrameLocks noGrp="1"/>
          </p:cNvGraphicFramePr>
          <p:nvPr/>
        </p:nvGraphicFramePr>
        <p:xfrm>
          <a:off x="841248" y="2194560"/>
          <a:ext cx="10515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3017520"/>
                <a:gridCol w="3840480"/>
                <a:gridCol w="914400"/>
              </a:tblGrid>
              <a:tr h="19202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ID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TIPO DE REQUISITO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DESCRIPCIÓN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CRITERIO DE ACEPTACIÓN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PRIORIDAD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</a:tr>
              <a:tr h="1920240"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RNF-03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NO FUNCIONAL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El sistema debe garantizar la integridad transaccional y la auditoría automática en base de datos.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El sistema debe implementar triggers nativos PL/pgSQL en PostgreSQL que intercepten operaciones INSERT, UPDATE y DELETE.</a:t>
                      </a:r>
                    </a:p>
                    <a:p>
                      <a:pPr>
                        <a:defRPr sz="12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Cada registro debe almacenarse de forma inmutable en auditoria_log e incluir:</a:t>
                      </a:r>
                    </a:p>
                    <a:p>
                      <a:pPr>
                        <a:defRPr sz="12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• Tabla afectada e ID del registro.</a:t>
                      </a:r>
                    </a:p>
                    <a:p>
                      <a:pPr>
                        <a:defRPr sz="12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• Datos anteriores y nuevos en formato JSONB.</a:t>
                      </a:r>
                    </a:p>
                    <a:p>
                      <a:pPr>
                        <a:defRPr sz="12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• Usuario de base de datos y dirección IP.</a:t>
                      </a:r>
                    </a:p>
                    <a:p>
                      <a:pPr>
                        <a:defRPr sz="12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• Timestamp de la operación.</a:t>
                      </a:r>
                    </a:p>
                    <a:p>
                      <a:pPr>
                        <a:defRPr sz="12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• Sobrecarga de ejecución inferior a 5 ms.</a:t>
                      </a:r>
                    </a:p>
                  </a:txBody>
                  <a:tcPr anchor="ctr"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Alta</a:t>
                      </a:r>
                    </a:p>
                  </a:txBody>
                  <a:tcPr anchor="ctr" marL="91440" marR="91440" marT="54864" marB="54864">
                    <a:solidFill>
                      <a:srgbClr val="FF808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  <a:defRPr sz="2800" b="1">
                <a:solidFill>
                  <a:srgbClr val="16161E"/>
                </a:solidFill>
                <a:latin typeface="Arial"/>
              </a:defRPr>
            </a:pPr>
            <a:r>
              <a:t>Técnica de Priorización de Requisitos</a:t>
            </a:r>
            <a:endParaRPr b="1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TextBox 208"/>
          <p:cNvSpPr txBox="1"/>
          <p:nvPr/>
        </p:nvSpPr>
        <p:spPr>
          <a:xfrm>
            <a:off x="841248" y="16459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0">
                <a:solidFill>
                  <a:srgbClr val="16161E"/>
                </a:solidFill>
                <a:latin typeface="Arial"/>
              </a:defRPr>
            </a:pPr>
            <a:r>
              <a:t>Resultado de la Priorización para las Historias de Usuario</a:t>
            </a:r>
          </a:p>
        </p:txBody>
      </p:sp>
      <p:graphicFrame>
        <p:nvGraphicFramePr>
          <p:cNvPr id="210" name="Table 209"/>
          <p:cNvGraphicFramePr>
            <a:graphicFrameLocks noGrp="1"/>
          </p:cNvGraphicFramePr>
          <p:nvPr/>
        </p:nvGraphicFramePr>
        <p:xfrm>
          <a:off x="841248" y="2377440"/>
          <a:ext cx="10515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860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Requerimientos</a:t>
                      </a:r>
                    </a:p>
                  </a:txBody>
                  <a:tcPr anchor="ctr"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Valor de negocio</a:t>
                      </a:r>
                    </a:p>
                  </a:txBody>
                  <a:tcPr anchor="ctr"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Urgencia</a:t>
                      </a:r>
                    </a:p>
                  </a:txBody>
                  <a:tcPr anchor="ctr" marL="73152" marR="73152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Sector</a:t>
                      </a:r>
                    </a:p>
                  </a:txBody>
                  <a:tcPr anchor="ctr" marL="73152" marR="73152" marT="54864" marB="54864"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HU01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25</a:t>
                      </a:r>
                    </a:p>
                  </a:txBody>
                  <a:tcPr anchor="ctr" marL="73152" marR="73152" marT="36576" marB="36576">
                    <a:solidFill>
                      <a:srgbClr val="FF8080"/>
                    </a:solidFill>
                  </a:tcPr>
                </a:tc>
              </a:tr>
              <a:tr h="386080"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HU02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20</a:t>
                      </a:r>
                    </a:p>
                  </a:txBody>
                  <a:tcPr anchor="ctr" marL="73152" marR="73152" marT="36576" marB="36576">
                    <a:solidFill>
                      <a:srgbClr val="FFC266"/>
                    </a:solidFill>
                  </a:tcPr>
                </a:tc>
              </a:tr>
              <a:tr h="386080"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HU03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16</a:t>
                      </a:r>
                    </a:p>
                  </a:txBody>
                  <a:tcPr anchor="ctr" marL="73152" marR="73152" marT="36576" marB="36576">
                    <a:solidFill>
                      <a:srgbClr val="FFC266"/>
                    </a:solidFill>
                  </a:tcPr>
                </a:tc>
              </a:tr>
              <a:tr h="386080"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HU04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 anchor="ctr" marL="73152" marR="73152" marT="36576" marB="36576">
                    <a:solidFill>
                      <a:srgbClr val="FFF2A3"/>
                    </a:solidFill>
                  </a:tcPr>
                </a:tc>
              </a:tr>
              <a:tr h="386080"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HU05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25</a:t>
                      </a:r>
                    </a:p>
                  </a:txBody>
                  <a:tcPr anchor="ctr" marL="73152" marR="73152" marT="36576" marB="36576">
                    <a:solidFill>
                      <a:srgbClr val="FF8080"/>
                    </a:solidFill>
                  </a:tcPr>
                </a:tc>
              </a:tr>
              <a:tr h="386080"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HU06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20</a:t>
                      </a:r>
                    </a:p>
                  </a:txBody>
                  <a:tcPr anchor="ctr" marL="73152" marR="73152" marT="36576" marB="36576">
                    <a:solidFill>
                      <a:srgbClr val="FFC266"/>
                    </a:solidFill>
                  </a:tcPr>
                </a:tc>
              </a:tr>
              <a:tr h="386080"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HU07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36576" marB="36576">
                    <a:solidFill>
                      <a:srgbClr val="FFF2A3"/>
                    </a:solidFill>
                  </a:tcPr>
                </a:tc>
              </a:tr>
              <a:tr h="386080"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HU08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20</a:t>
                      </a:r>
                    </a:p>
                  </a:txBody>
                  <a:tcPr anchor="ctr" marL="73152" marR="73152" marT="36576" marB="36576">
                    <a:solidFill>
                      <a:srgbClr val="FFC2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85abcdf13_0_24"/>
          <p:cNvSpPr txBox="1"/>
          <p:nvPr/>
        </p:nvSpPr>
        <p:spPr>
          <a:xfrm>
            <a:off x="1198260" y="3205509"/>
            <a:ext cx="94779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Calibri"/>
              <a:buNone/>
            </a:pPr>
            <a:r>
              <a:rPr b="1" lang="es-CO" sz="6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DISEÑO</a:t>
            </a:r>
            <a:endParaRPr b="1" sz="6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Calibri"/>
              <a:buNone/>
            </a:pPr>
            <a:r>
              <a:t/>
            </a:r>
            <a:endParaRPr b="1" sz="6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f85abcdf13_0_24"/>
          <p:cNvSpPr txBox="1"/>
          <p:nvPr/>
        </p:nvSpPr>
        <p:spPr>
          <a:xfrm>
            <a:off x="4801950" y="3019075"/>
            <a:ext cx="538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500"/>
              <a:t>FASE 03 </a:t>
            </a:r>
            <a:endParaRPr b="1" sz="25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"/>
          <p:cNvSpPr txBox="1"/>
          <p:nvPr>
            <p:ph type="title"/>
          </p:nvPr>
        </p:nvSpPr>
        <p:spPr>
          <a:xfrm>
            <a:off x="838200" y="5056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</a:pPr>
            <a:r>
              <a:rPr b="1" lang="es-CO">
                <a:solidFill>
                  <a:schemeClr val="accent5"/>
                </a:solidFill>
              </a:rPr>
              <a:t>Caso de Usos</a:t>
            </a:r>
            <a:endParaRPr b="1">
              <a:solidFill>
                <a:schemeClr val="accent5"/>
              </a:solidFill>
            </a:endParaRPr>
          </a:p>
        </p:txBody>
      </p:sp>
      <p:pic>
        <p:nvPicPr>
          <p:cNvPr id="220" name="Google Shape;22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5225" y="156700"/>
            <a:ext cx="4771526" cy="650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  <a:defRPr sz="2800" b="1">
                <a:solidFill>
                  <a:srgbClr val="16161E"/>
                </a:solidFill>
                <a:latin typeface="Arial"/>
              </a:defRPr>
            </a:pPr>
            <a:r>
              <a:t>Casos de Usos tablas</a:t>
            </a:r>
            <a:endParaRPr b="1">
              <a:solidFill>
                <a:schemeClr val="accent5"/>
              </a:solidFill>
            </a:endParaRPr>
          </a:p>
        </p:txBody>
      </p:sp>
      <p:pic>
        <p:nvPicPr>
          <p:cNvPr id="226" name="Google Shape;226;p22"/>
          <p:cNvPicPr preferRelativeResize="0"/>
          <p:nvPr/>
        </p:nvPicPr>
        <p:blipFill rotWithShape="1">
          <a:blip r:embed="rId3">
            <a:alphaModFix/>
          </a:blip>
          <a:srcRect b="22930" l="24974" r="24979" t="22925"/>
          <a:stretch/>
        </p:blipFill>
        <p:spPr>
          <a:xfrm>
            <a:off x="11015700" y="296873"/>
            <a:ext cx="786700" cy="774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7" name="Table 226"/>
          <p:cNvGraphicFramePr>
            <a:graphicFrameLocks noGrp="1"/>
          </p:cNvGraphicFramePr>
          <p:nvPr/>
        </p:nvGraphicFramePr>
        <p:xfrm>
          <a:off x="841248" y="1600200"/>
          <a:ext cx="1051560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503920"/>
              </a:tblGrid>
              <a:tr h="5232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Campo</a:t>
                      </a:r>
                    </a:p>
                  </a:txBody>
                  <a:tcPr anchor="ctr" marL="109728" marR="109728" marT="54864" marB="54864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Detalle</a:t>
                      </a:r>
                    </a:p>
                  </a:txBody>
                  <a:tcPr anchor="ctr" marL="109728" marR="109728" marT="54864" marB="54864">
                    <a:solidFill>
                      <a:srgbClr val="00324D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 algn="ctr">
                        <a:defRPr sz="11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ID-CU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CU02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 algn="ctr">
                        <a:defRPr sz="11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Nombre CU</a:t>
                      </a:r>
                    </a:p>
                  </a:txBody>
                  <a:tcPr anchor="ctr" marL="109728" marR="109728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Agendar Cita de Servicio Técnico</a:t>
                      </a:r>
                    </a:p>
                  </a:txBody>
                  <a:tcPr anchor="ctr" marL="109728" marR="109728" marT="36576" marB="36576">
                    <a:solidFill>
                      <a:srgbClr val="F8FAFC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 algn="ctr">
                        <a:defRPr sz="11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Descripción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Proceso mediante el cual un cliente selecciona el tipo de equipo, servicio requerido y reserva un horario disponible.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 algn="ctr">
                        <a:defRPr sz="11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Actor</a:t>
                      </a:r>
                    </a:p>
                  </a:txBody>
                  <a:tcPr anchor="ctr" marL="109728" marR="109728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Cliente</a:t>
                      </a:r>
                    </a:p>
                  </a:txBody>
                  <a:tcPr anchor="ctr" marL="109728" marR="109728" marT="36576" marB="36576">
                    <a:solidFill>
                      <a:srgbClr val="F8FAFC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 algn="ctr">
                        <a:defRPr sz="11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Precondiciones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El servicio deseado debe estar activo en el catálogo del sistema.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 algn="ctr">
                        <a:defRPr sz="11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Flujo normal</a:t>
                      </a:r>
                    </a:p>
                  </a:txBody>
                  <a:tcPr anchor="ctr" marL="109728" marR="109728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1. El cliente selecciona la opción 'Nueva Cita'.</a:t>
                      </a:r>
                    </a:p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2. El cliente selecciona el tipo de dispositivo a reparar o revisar.</a:t>
                      </a:r>
                    </a:p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3. El cliente elige el servicio técnico del catálogo.</a:t>
                      </a:r>
                    </a:p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4. El sistema despliega las fechas y franjas horarias disponibles.</a:t>
                      </a:r>
                    </a:p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5. El cliente selecciona fecha, hora y confirma la reserva.</a:t>
                      </a:r>
                    </a:p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6. El sistema guarda la cita y genera una confirmación en pantalla.</a:t>
                      </a:r>
                    </a:p>
                  </a:txBody>
                  <a:tcPr anchor="ctr" marL="109728" marR="109728" marT="36576" marB="36576">
                    <a:solidFill>
                      <a:srgbClr val="F8FAFC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 algn="ctr">
                        <a:defRPr sz="11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Postcondiciones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La cita queda registrada en estado 'Pendiente' y asignada al flujo de atención.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 algn="ctr">
                        <a:defRPr sz="11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Flujos alternativos</a:t>
                      </a:r>
                    </a:p>
                  </a:txBody>
                  <a:tcPr anchor="ctr" marL="109728" marR="109728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5a. La franja horaria es reservada simultáneamente por otro cliente: El sistema notifica la indisponibilidad y solicita elegir otro horario.</a:t>
                      </a:r>
                    </a:p>
                  </a:txBody>
                  <a:tcPr anchor="ctr" marL="109728" marR="109728" marT="36576" marB="36576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883c94295_0_1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  <a:defRPr sz="2800" b="1">
                <a:solidFill>
                  <a:srgbClr val="16161E"/>
                </a:solidFill>
                <a:latin typeface="Arial"/>
              </a:defRPr>
            </a:pPr>
            <a:r>
              <a:t>Casos de Usos tablas</a:t>
            </a:r>
            <a:endParaRPr b="1">
              <a:solidFill>
                <a:schemeClr val="accent5"/>
              </a:solidFill>
            </a:endParaRPr>
          </a:p>
        </p:txBody>
      </p:sp>
      <p:pic>
        <p:nvPicPr>
          <p:cNvPr id="233" name="Google Shape;233;g3f883c94295_0_13"/>
          <p:cNvPicPr preferRelativeResize="0"/>
          <p:nvPr/>
        </p:nvPicPr>
        <p:blipFill rotWithShape="1">
          <a:blip r:embed="rId3">
            <a:alphaModFix/>
          </a:blip>
          <a:srcRect b="22930" l="24974" r="24979" t="22925"/>
          <a:stretch/>
        </p:blipFill>
        <p:spPr>
          <a:xfrm>
            <a:off x="11015700" y="296873"/>
            <a:ext cx="786700" cy="774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841248" y="1600200"/>
          <a:ext cx="1051560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503920"/>
              </a:tblGrid>
              <a:tr h="5232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Campo</a:t>
                      </a:r>
                    </a:p>
                  </a:txBody>
                  <a:tcPr anchor="ctr" marL="109728" marR="109728" marT="54864" marB="54864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Detalle</a:t>
                      </a:r>
                    </a:p>
                  </a:txBody>
                  <a:tcPr anchor="ctr" marL="109728" marR="109728" marT="54864" marB="54864">
                    <a:solidFill>
                      <a:srgbClr val="00324D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 algn="ctr">
                        <a:defRPr sz="11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ID-CU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CU03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 algn="ctr">
                        <a:defRPr sz="11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Nombre CU</a:t>
                      </a:r>
                    </a:p>
                  </a:txBody>
                  <a:tcPr anchor="ctr" marL="109728" marR="109728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Administrar Estado y Demoras de Citas</a:t>
                      </a:r>
                    </a:p>
                  </a:txBody>
                  <a:tcPr anchor="ctr" marL="109728" marR="109728" marT="36576" marB="36576">
                    <a:solidFill>
                      <a:srgbClr val="F8FAFC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 algn="ctr">
                        <a:defRPr sz="11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Descripción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Permite gestionar el estado de las citas (confirmar, reprogramar, cancelar) y notificar imprevistos o demoras al cliente.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 algn="ctr">
                        <a:defRPr sz="11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Actor</a:t>
                      </a:r>
                    </a:p>
                  </a:txBody>
                  <a:tcPr anchor="ctr" marL="109728" marR="109728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Técnico / Administrador</a:t>
                      </a:r>
                    </a:p>
                  </a:txBody>
                  <a:tcPr anchor="ctr" marL="109728" marR="109728" marT="36576" marB="36576">
                    <a:solidFill>
                      <a:srgbClr val="F8FAFC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 algn="ctr">
                        <a:defRPr sz="11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Precondiciones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Debe existir al menos una cita registrada en el sistema.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 algn="ctr">
                        <a:defRPr sz="11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Flujo normal</a:t>
                      </a:r>
                    </a:p>
                  </a:txBody>
                  <a:tcPr anchor="ctr" marL="109728" marR="109728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1. El actor ingresa al módulo 'Citas' o 'Mi Agenda'.</a:t>
                      </a:r>
                    </a:p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2. El sistema muestra el listado de citas registradas.</a:t>
                      </a:r>
                    </a:p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3. El actor selecciona una cita específica.</a:t>
                      </a:r>
                    </a:p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4. El actor actualiza el estado o pulsa la opción 'Notificar Demora'.</a:t>
                      </a:r>
                    </a:p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5. El actor ingresa el tiempo estimado de retraso y el motivo.</a:t>
                      </a:r>
                    </a:p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6. El sistema actualiza la cita y envía la notificación de contingencia.</a:t>
                      </a:r>
                    </a:p>
                  </a:txBody>
                  <a:tcPr anchor="ctr" marL="109728" marR="109728" marT="36576" marB="36576">
                    <a:solidFill>
                      <a:srgbClr val="F8FAFC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 algn="ctr">
                        <a:defRPr sz="11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Postcondiciones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El nuevo estado o aviso de contingencia queda registrado en la orden de servicio.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 algn="ctr">
                        <a:defRPr sz="11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Flujos alternativos</a:t>
                      </a:r>
                    </a:p>
                  </a:txBody>
                  <a:tcPr anchor="ctr" marL="109728" marR="109728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4a. El cliente no asiste tras 15 min: El técnico pulsa 'Liberar por No-Show' y reasigna el box para atención presencial (walk-ins).</a:t>
                      </a:r>
                    </a:p>
                  </a:txBody>
                  <a:tcPr anchor="ctr" marL="109728" marR="109728" marT="36576" marB="36576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883c94295_0_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  <a:defRPr sz="2800" b="1">
                <a:solidFill>
                  <a:srgbClr val="16161E"/>
                </a:solidFill>
                <a:latin typeface="Arial"/>
              </a:defRPr>
            </a:pPr>
            <a:r>
              <a:t>Casos de Usos tablas</a:t>
            </a:r>
            <a:endParaRPr b="1">
              <a:solidFill>
                <a:schemeClr val="accent5"/>
              </a:solidFill>
            </a:endParaRPr>
          </a:p>
        </p:txBody>
      </p:sp>
      <p:pic>
        <p:nvPicPr>
          <p:cNvPr id="240" name="Google Shape;240;g3f883c94295_0_20"/>
          <p:cNvPicPr preferRelativeResize="0"/>
          <p:nvPr/>
        </p:nvPicPr>
        <p:blipFill rotWithShape="1">
          <a:blip r:embed="rId3">
            <a:alphaModFix/>
          </a:blip>
          <a:srcRect b="22930" l="24974" r="24979" t="22925"/>
          <a:stretch/>
        </p:blipFill>
        <p:spPr>
          <a:xfrm>
            <a:off x="11015700" y="296873"/>
            <a:ext cx="786700" cy="774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1" name="Table 240"/>
          <p:cNvGraphicFramePr>
            <a:graphicFrameLocks noGrp="1"/>
          </p:cNvGraphicFramePr>
          <p:nvPr/>
        </p:nvGraphicFramePr>
        <p:xfrm>
          <a:off x="841248" y="1600200"/>
          <a:ext cx="1051560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503920"/>
              </a:tblGrid>
              <a:tr h="5232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Campo</a:t>
                      </a:r>
                    </a:p>
                  </a:txBody>
                  <a:tcPr anchor="ctr" marL="109728" marR="109728" marT="54864" marB="54864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Detalle</a:t>
                      </a:r>
                    </a:p>
                  </a:txBody>
                  <a:tcPr anchor="ctr" marL="109728" marR="109728" marT="54864" marB="54864">
                    <a:solidFill>
                      <a:srgbClr val="00324D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 algn="ctr">
                        <a:defRPr sz="11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ID-CU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CU04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 algn="ctr">
                        <a:defRPr sz="11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Nombre CU</a:t>
                      </a:r>
                    </a:p>
                  </a:txBody>
                  <a:tcPr anchor="ctr" marL="109728" marR="109728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Controlar Estado de Turno Técnico</a:t>
                      </a:r>
                    </a:p>
                  </a:txBody>
                  <a:tcPr anchor="ctr" marL="109728" marR="109728" marT="36576" marB="36576">
                    <a:solidFill>
                      <a:srgbClr val="F8FAFC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 algn="ctr">
                        <a:defRPr sz="11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Descripción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Permite a los técnicos cambiar su estado operativo (Disponible, En Servicio, Pausar Turno) durante la jornada laboral.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 algn="ctr">
                        <a:defRPr sz="11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Actor</a:t>
                      </a:r>
                    </a:p>
                  </a:txBody>
                  <a:tcPr anchor="ctr" marL="109728" marR="109728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Técnico</a:t>
                      </a:r>
                    </a:p>
                  </a:txBody>
                  <a:tcPr anchor="ctr" marL="109728" marR="109728" marT="36576" marB="36576">
                    <a:solidFill>
                      <a:srgbClr val="F8FAFC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 algn="ctr">
                        <a:defRPr sz="11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Precondiciones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El técnico debe tener la sesión activa en el panel.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 algn="ctr">
                        <a:defRPr sz="11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Flujo normal</a:t>
                      </a:r>
                    </a:p>
                  </a:txBody>
                  <a:tcPr anchor="ctr" marL="109728" marR="109728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1. El técnico visualiza su indicador de estado en la barra lateral o panel.</a:t>
                      </a:r>
                    </a:p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2. El técnico hace clic en la acción 'Pausar Turno' o cambiar estado.</a:t>
                      </a:r>
                    </a:p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3. El sistema valida que el técnico no tenga servicios asignados en ejecución en ese instante.</a:t>
                      </a:r>
                    </a:p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4. El sistema actualiza el indicador a 'En Pausa' / 'No Disponible'.</a:t>
                      </a:r>
                    </a:p>
                  </a:txBody>
                  <a:tcPr anchor="ctr" marL="109728" marR="109728" marT="36576" marB="36576">
                    <a:solidFill>
                      <a:srgbClr val="F8FAFC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 algn="ctr">
                        <a:defRPr sz="11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Postcondiciones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El sistema no asigna nuevas citas automáticas mientras el técnico se encuentre en pausa.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 algn="ctr">
                        <a:defRPr sz="11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Flujos alternativos</a:t>
                      </a:r>
                    </a:p>
                  </a:txBody>
                  <a:tcPr anchor="ctr" marL="109728" marR="109728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3a. El técnico tiene un servicio activo: El sistema muestra un mensaje requiriendo finalizar la orden actual antes de pausar el turno.</a:t>
                      </a:r>
                    </a:p>
                  </a:txBody>
                  <a:tcPr anchor="ctr" marL="109728" marR="109728" marT="36576" marB="36576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883c94295_0_2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  <a:defRPr sz="2800" b="1">
                <a:solidFill>
                  <a:srgbClr val="16161E"/>
                </a:solidFill>
                <a:latin typeface="Arial"/>
              </a:defRPr>
            </a:pPr>
            <a:r>
              <a:t>Casos de Usos tablas</a:t>
            </a:r>
            <a:endParaRPr b="1">
              <a:solidFill>
                <a:schemeClr val="accent5"/>
              </a:solidFill>
            </a:endParaRPr>
          </a:p>
        </p:txBody>
      </p:sp>
      <p:pic>
        <p:nvPicPr>
          <p:cNvPr id="247" name="Google Shape;247;g3f883c94295_0_27"/>
          <p:cNvPicPr preferRelativeResize="0"/>
          <p:nvPr/>
        </p:nvPicPr>
        <p:blipFill rotWithShape="1">
          <a:blip r:embed="rId3">
            <a:alphaModFix/>
          </a:blip>
          <a:srcRect b="22930" l="24974" r="24979" t="22925"/>
          <a:stretch/>
        </p:blipFill>
        <p:spPr>
          <a:xfrm>
            <a:off x="11015700" y="296873"/>
            <a:ext cx="786700" cy="774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8" name="Table 247"/>
          <p:cNvGraphicFramePr>
            <a:graphicFrameLocks noGrp="1"/>
          </p:cNvGraphicFramePr>
          <p:nvPr/>
        </p:nvGraphicFramePr>
        <p:xfrm>
          <a:off x="841248" y="1600200"/>
          <a:ext cx="1051560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503920"/>
              </a:tblGrid>
              <a:tr h="5232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Campo</a:t>
                      </a:r>
                    </a:p>
                  </a:txBody>
                  <a:tcPr anchor="ctr" marL="109728" marR="109728" marT="54864" marB="54864">
                    <a:solidFill>
                      <a:srgbClr val="003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Detalle</a:t>
                      </a:r>
                    </a:p>
                  </a:txBody>
                  <a:tcPr anchor="ctr" marL="109728" marR="109728" marT="54864" marB="54864">
                    <a:solidFill>
                      <a:srgbClr val="00324D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 algn="ctr">
                        <a:defRPr sz="11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ID-CU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CU05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 algn="ctr">
                        <a:defRPr sz="11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Nombre CU</a:t>
                      </a:r>
                    </a:p>
                  </a:txBody>
                  <a:tcPr anchor="ctr" marL="109728" marR="109728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Gestionar Oferta de Servicios y SLA</a:t>
                      </a:r>
                    </a:p>
                  </a:txBody>
                  <a:tcPr anchor="ctr" marL="109728" marR="109728" marT="36576" marB="36576">
                    <a:solidFill>
                      <a:srgbClr val="F8FAFC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 algn="ctr">
                        <a:defRPr sz="11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Descripción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Permite registrar, editar precios, tiempos estimados de atención y configurar acuerdos de nivel de servicio (SLA).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 algn="ctr">
                        <a:defRPr sz="11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Actor</a:t>
                      </a:r>
                    </a:p>
                  </a:txBody>
                  <a:tcPr anchor="ctr" marL="109728" marR="109728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Administrador</a:t>
                      </a:r>
                    </a:p>
                  </a:txBody>
                  <a:tcPr anchor="ctr" marL="109728" marR="109728" marT="36576" marB="36576">
                    <a:solidFill>
                      <a:srgbClr val="F8FAFC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 algn="ctr">
                        <a:defRPr sz="11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Precondiciones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Contar con permisos de administración general.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 algn="ctr">
                        <a:defRPr sz="11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Flujo normal</a:t>
                      </a:r>
                    </a:p>
                  </a:txBody>
                  <a:tcPr anchor="ctr" marL="109728" marR="109728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1. El administrador ingresa al módulo 'Catálogo'.</a:t>
                      </a:r>
                    </a:p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2. El sistema despliega la lista de servicios activos e inactivos.</a:t>
                      </a:r>
                    </a:p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3. El administrador selecciona 'Nuevo Servicio' o edita uno existente.</a:t>
                      </a:r>
                    </a:p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4. El administrador especifica nombre, costo base, tiempo estimado (45-90 min) y margen buffer.</a:t>
                      </a:r>
                    </a:p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5. El administrador guarda los cambios.</a:t>
                      </a:r>
                    </a:p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6. El sistema actualiza el catálogo global.</a:t>
                      </a:r>
                    </a:p>
                  </a:txBody>
                  <a:tcPr anchor="ctr" marL="109728" marR="109728" marT="36576" marB="36576">
                    <a:solidFill>
                      <a:srgbClr val="F8FAFC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 algn="ctr">
                        <a:defRPr sz="11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Postcondiciones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La oferta de servicios queda disponible e inmediatamente actualizada para las reservas de los clientes.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 wrap="square"/>
                    <a:lstStyle/>
                    <a:p>
                      <a:pPr algn="ctr">
                        <a:defRPr sz="11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Flujos alternativos</a:t>
                      </a:r>
                    </a:p>
                  </a:txBody>
                  <a:tcPr anchor="ctr" marL="109728" marR="109728" marT="36576" marB="36576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5a. Datos obligatorios incompletos: El sistema resalta los campos faltantes y no permite guardar hasta corregir.</a:t>
                      </a:r>
                    </a:p>
                  </a:txBody>
                  <a:tcPr anchor="ctr" marL="109728" marR="109728" marT="36576" marB="36576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4"/>
          <p:cNvSpPr txBox="1"/>
          <p:nvPr>
            <p:ph type="title"/>
          </p:nvPr>
        </p:nvSpPr>
        <p:spPr>
          <a:xfrm>
            <a:off x="275450" y="161725"/>
            <a:ext cx="3080100" cy="8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</a:pPr>
            <a:r>
              <a:rPr b="1" lang="es-CO">
                <a:solidFill>
                  <a:schemeClr val="accent5"/>
                </a:solidFill>
              </a:rPr>
              <a:t>Mockups</a:t>
            </a:r>
            <a:endParaRPr b="1">
              <a:solidFill>
                <a:schemeClr val="accent5"/>
              </a:solidFill>
            </a:endParaRPr>
          </a:p>
        </p:txBody>
      </p:sp>
      <p:pic>
        <p:nvPicPr>
          <p:cNvPr id="254" name="Google Shape;254;p24"/>
          <p:cNvPicPr preferRelativeResize="0"/>
          <p:nvPr/>
        </p:nvPicPr>
        <p:blipFill rotWithShape="1">
          <a:blip r:embed="rId4">
            <a:alphaModFix/>
          </a:blip>
          <a:srcRect b="2091" l="2252" r="1917" t="4153"/>
          <a:stretch/>
        </p:blipFill>
        <p:spPr>
          <a:xfrm>
            <a:off x="345700" y="1037725"/>
            <a:ext cx="5891975" cy="390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4"/>
          <p:cNvPicPr preferRelativeResize="0"/>
          <p:nvPr/>
        </p:nvPicPr>
        <p:blipFill rotWithShape="1">
          <a:blip r:embed="rId5">
            <a:alphaModFix/>
          </a:blip>
          <a:srcRect b="1866" l="480" r="-480" t="11726"/>
          <a:stretch/>
        </p:blipFill>
        <p:spPr>
          <a:xfrm>
            <a:off x="6619000" y="2410575"/>
            <a:ext cx="5303076" cy="3905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5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1" name="Google Shape;26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050" y="221025"/>
            <a:ext cx="3236726" cy="3418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94325" y="2194449"/>
            <a:ext cx="4235076" cy="3478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15950" y="1090175"/>
            <a:ext cx="4272912" cy="341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  <a:defRPr sz="2800" b="1">
                <a:solidFill>
                  <a:srgbClr val="16161E"/>
                </a:solidFill>
                <a:latin typeface="Arial"/>
              </a:defRPr>
            </a:pPr>
            <a:r>
              <a:t>Diseño de la Base de Datos</a:t>
            </a:r>
            <a:endParaRPr b="1">
              <a:solidFill>
                <a:schemeClr val="accent5"/>
              </a:solidFill>
            </a:endParaRPr>
          </a:p>
        </p:txBody>
      </p:sp>
      <p:pic>
        <p:nvPicPr>
          <p:cNvPr id="269" name="Google Shape;269;p26"/>
          <p:cNvPicPr preferRelativeResize="0"/>
          <p:nvPr/>
        </p:nvPicPr>
        <p:blipFill rotWithShape="1">
          <a:blip r:embed="rId3">
            <a:alphaModFix/>
          </a:blip>
          <a:srcRect b="22930" l="24974" r="24979" t="22925"/>
          <a:stretch/>
        </p:blipFill>
        <p:spPr>
          <a:xfrm>
            <a:off x="11121100" y="365123"/>
            <a:ext cx="789800" cy="77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TextBox 269"/>
          <p:cNvSpPr txBox="1"/>
          <p:nvPr/>
        </p:nvSpPr>
        <p:spPr>
          <a:xfrm>
            <a:off x="841248" y="16459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16161E"/>
                </a:solidFill>
                <a:latin typeface="Arial"/>
              </a:defRPr>
            </a:pPr>
            <a:r>
              <a:t>Estructura del Modelo Entidad-Relación y Tablas Transaccionales de ServiTech:</a:t>
            </a:r>
          </a:p>
        </p:txBody>
      </p:sp>
      <p:graphicFrame>
        <p:nvGraphicFramePr>
          <p:cNvPr id="271" name="Table 270"/>
          <p:cNvGraphicFramePr>
            <a:graphicFrameLocks noGrp="1"/>
          </p:cNvGraphicFramePr>
          <p:nvPr/>
        </p:nvGraphicFramePr>
        <p:xfrm>
          <a:off x="841248" y="219456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645920"/>
                <a:gridCol w="2834640"/>
                <a:gridCol w="3840480"/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Entidad / Tabla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Tipo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Relación Principal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Propósito en el Negocio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turnos_usuario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Maestra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1:N con turnos_cita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Gestión de roles: Admin, Jefe de Taller, Técnico N1-N3 y Cliente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turnos_servicio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Catálogo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1:N con turnos_cita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Catálogo de servicios con costos base y duraciones SLA (45-90 min)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turnos_cita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Transaccional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N:1 usuario, N:1 servicio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Registro de citas, asignación de box/técnico y estados de atención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turnos_repuesto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Inventario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1:N con cita_repuesto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Kardex de repuestos, stock disponible, precio unitario y compatibilidad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turnos_citarepuesto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Intermedia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N:1 cita, N:1 repuesto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Detalle de piezas y repuestos instalados por orden técnica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turnos_box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Operativa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1:1 con técnico asignado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Control de boxes físicos de trabajo y estado de ocupación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auditoria_log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Auditoría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Triggers nativos PL/pgSQL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Registro inmutable con snapshot JSONB de toda mutación (INSERT/UPDATE/DELETE)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  <a:defRPr sz="2800" b="1">
                <a:solidFill>
                  <a:srgbClr val="16161E"/>
                </a:solidFill>
                <a:latin typeface="Arial"/>
              </a:defRPr>
            </a:pPr>
            <a:r>
              <a:t>Diseño de la Base de Datos – Tabla</a:t>
            </a:r>
            <a:endParaRPr b="1">
              <a:solidFill>
                <a:schemeClr val="accent5"/>
              </a:solidFill>
            </a:endParaRPr>
          </a:p>
        </p:txBody>
      </p:sp>
      <p:pic>
        <p:nvPicPr>
          <p:cNvPr id="275" name="Google Shape;275;p27"/>
          <p:cNvPicPr preferRelativeResize="0"/>
          <p:nvPr/>
        </p:nvPicPr>
        <p:blipFill rotWithShape="1">
          <a:blip r:embed="rId3">
            <a:alphaModFix/>
          </a:blip>
          <a:srcRect b="22930" l="24974" r="24979" t="22925"/>
          <a:stretch/>
        </p:blipFill>
        <p:spPr>
          <a:xfrm>
            <a:off x="10822450" y="296873"/>
            <a:ext cx="786700" cy="774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TextBox 275"/>
          <p:cNvSpPr txBox="1"/>
          <p:nvPr/>
        </p:nvSpPr>
        <p:spPr>
          <a:xfrm>
            <a:off x="841248" y="16459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161E"/>
                </a:solidFill>
                <a:latin typeface="Arial"/>
              </a:defRPr>
            </a:pPr>
            <a:r>
              <a:t>Diccionario de Datos: Tabla Principal `turnos_cita`</a:t>
            </a:r>
          </a:p>
        </p:txBody>
      </p:sp>
      <p:graphicFrame>
        <p:nvGraphicFramePr>
          <p:cNvPr id="277" name="Table 276"/>
          <p:cNvGraphicFramePr>
            <a:graphicFrameLocks noGrp="1"/>
          </p:cNvGraphicFramePr>
          <p:nvPr/>
        </p:nvGraphicFramePr>
        <p:xfrm>
          <a:off x="841248" y="2148840"/>
          <a:ext cx="105156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645920"/>
                <a:gridCol w="1097280"/>
                <a:gridCol w="1005840"/>
                <a:gridCol w="4572000"/>
              </a:tblGrid>
              <a:tr h="37822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Nombre del Campo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Tipo de Dato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Longitud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Llave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Descripción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BIGINT (Auto)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PK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Identificador único secuencial de la cita / orden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cliente_id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BIGINT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FK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Referencia al usuario cliente solicitante (turnos_usuario)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tecnico_id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BIGINT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FK (Null)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Técnico asignado a la orden técnica o box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servicio_id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BIGINT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FK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Servicio técnico contratado con duración SLA base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dispositivo_tipo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VARCHAR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Tipo de equipo: Celular, Laptop, PC, Consola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marca_modelo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VARCHAR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150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Marca y modelo comercial del equipo a reparar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serial_imei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VARCHAR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Número de serie o código IMEI para trazabilidad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fecha_cita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DATE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Fecha programada para la atención presencial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hora_inicio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Hora de inicio de la franja horaria agendada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823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estado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VARCHAR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Confirmada, En Box, Pausada, Retrasada, Finalizada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  <a:defRPr sz="2800" b="1">
                <a:solidFill>
                  <a:srgbClr val="16161E"/>
                </a:solidFill>
                <a:latin typeface="Arial"/>
              </a:defRPr>
            </a:pPr>
            <a:r>
              <a:t>Diseño de la Base de Datos – Tabla</a:t>
            </a:r>
            <a:endParaRPr/>
          </a:p>
        </p:txBody>
      </p:sp>
      <p:pic>
        <p:nvPicPr>
          <p:cNvPr id="281" name="Google Shape;281;p28"/>
          <p:cNvPicPr preferRelativeResize="0"/>
          <p:nvPr/>
        </p:nvPicPr>
        <p:blipFill rotWithShape="1">
          <a:blip r:embed="rId3">
            <a:alphaModFix/>
          </a:blip>
          <a:srcRect b="22930" l="24974" r="24979" t="22925"/>
          <a:stretch/>
        </p:blipFill>
        <p:spPr>
          <a:xfrm>
            <a:off x="11210427" y="296873"/>
            <a:ext cx="742450" cy="7309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TextBox 281"/>
          <p:cNvSpPr txBox="1"/>
          <p:nvPr/>
        </p:nvSpPr>
        <p:spPr>
          <a:xfrm>
            <a:off x="841248" y="16459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161E"/>
                </a:solidFill>
                <a:latin typeface="Arial"/>
              </a:defRPr>
            </a:pPr>
            <a:r>
              <a:t>Diccionario de Datos: `turnos_servicio` (Catálogo SLA) y `auditoria_log`</a:t>
            </a:r>
          </a:p>
        </p:txBody>
      </p:sp>
      <p:graphicFrame>
        <p:nvGraphicFramePr>
          <p:cNvPr id="283" name="Table 282"/>
          <p:cNvGraphicFramePr>
            <a:graphicFrameLocks noGrp="1"/>
          </p:cNvGraphicFramePr>
          <p:nvPr/>
        </p:nvGraphicFramePr>
        <p:xfrm>
          <a:off x="841248" y="2148840"/>
          <a:ext cx="105156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463040"/>
                <a:gridCol w="1097280"/>
                <a:gridCol w="1005840"/>
                <a:gridCol w="4572000"/>
              </a:tblGrid>
              <a:tr h="37822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Nombre del Campo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Tipo de Dato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Longitud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Llave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Descripción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[turnos_servicio] 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BIGINT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PK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Identificador único del servicio de catálogo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nombre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VARCHAR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Nombre del servicio técnico (ej. Cambio de Pantalla)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costo_base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DECIMAL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10,2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Tarifa base de mano de obra en pesos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duracion_estimada_min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INTEGER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Tiempo SLA estimado de ejecución técnica (45-90 min)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buffer_minutos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INTEGER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Margen de tolerancia antes de la siguiente cita (15 min)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[auditoria_log] id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BIGINT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PK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Identificador secuencial del evento de auditoría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tabla_afectada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VARCHAR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Nombre de la tabla mutada (citas, usuarios, etc.)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operacion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VARCHAR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Tipo de evento transaccional: INSERT, UPDATE, DELETE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datos_anteriores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JSONB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Variable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Snapshot inmutable del estado previo del registro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823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datos_nuevos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JSONB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Variable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Snapshot inmutable del nuevo estado registrado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9"/>
          <p:cNvSpPr txBox="1"/>
          <p:nvPr/>
        </p:nvSpPr>
        <p:spPr>
          <a:xfrm>
            <a:off x="1357060" y="2878484"/>
            <a:ext cx="94779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Calibri"/>
              <a:buNone/>
            </a:pPr>
            <a:r>
              <a:rPr b="1" lang="es-CO" sz="6000"/>
              <a:t>DESARROLLO</a:t>
            </a:r>
            <a:endParaRPr b="1" i="0" sz="6000" u="none" cap="none" strike="noStrike">
              <a:solidFill>
                <a:srgbClr val="000000"/>
              </a:solidFill>
            </a:endParaRPr>
          </a:p>
        </p:txBody>
      </p:sp>
      <p:sp>
        <p:nvSpPr>
          <p:cNvPr id="287" name="Google Shape;287;p29"/>
          <p:cNvSpPr txBox="1"/>
          <p:nvPr/>
        </p:nvSpPr>
        <p:spPr>
          <a:xfrm>
            <a:off x="3485050" y="2594075"/>
            <a:ext cx="538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500"/>
              <a:t>FASE 04</a:t>
            </a:r>
            <a:endParaRPr b="1" sz="25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f0ee9bbb6f_0_8"/>
          <p:cNvSpPr txBox="1"/>
          <p:nvPr>
            <p:ph type="title"/>
          </p:nvPr>
        </p:nvSpPr>
        <p:spPr>
          <a:xfrm>
            <a:off x="296275" y="1502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  <a:defRPr sz="2800" b="1">
                <a:solidFill>
                  <a:srgbClr val="16161E"/>
                </a:solidFill>
                <a:latin typeface="Arial"/>
              </a:defRPr>
            </a:pPr>
            <a:r>
              <a:t>Software Usado</a:t>
            </a:r>
            <a:endParaRPr b="1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g3f0ee9bbb6f_0_8"/>
          <p:cNvPicPr preferRelativeResize="0"/>
          <p:nvPr/>
        </p:nvPicPr>
        <p:blipFill rotWithShape="1">
          <a:blip r:embed="rId14">
            <a:alphaModFix/>
          </a:blip>
          <a:srcRect b="22930" l="24974" r="24979" t="22925"/>
          <a:stretch/>
        </p:blipFill>
        <p:spPr>
          <a:xfrm>
            <a:off x="11315131" y="358722"/>
            <a:ext cx="625321" cy="61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TextBox 309"/>
          <p:cNvSpPr txBox="1"/>
          <p:nvPr/>
        </p:nvSpPr>
        <p:spPr>
          <a:xfrm>
            <a:off x="841248" y="16459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16161E"/>
                </a:solidFill>
                <a:latin typeface="Arial"/>
              </a:defRPr>
            </a:pPr>
            <a:r>
              <a:t>Stack Tecnológico y Herramientas Empleadas en el Desarrollo de ServiTech:</a:t>
            </a:r>
          </a:p>
        </p:txBody>
      </p:sp>
      <p:graphicFrame>
        <p:nvGraphicFramePr>
          <p:cNvPr id="311" name="Table 310"/>
          <p:cNvGraphicFramePr>
            <a:graphicFrameLocks noGrp="1"/>
          </p:cNvGraphicFramePr>
          <p:nvPr/>
        </p:nvGraphicFramePr>
        <p:xfrm>
          <a:off x="841248" y="2148840"/>
          <a:ext cx="105156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377440"/>
                <a:gridCol w="1371600"/>
                <a:gridCol w="4480560"/>
              </a:tblGrid>
              <a:tr h="4622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Capa de Arquitectura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Tecnología / Software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Versión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Rol y Función en el Sistema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Backend &amp; Lógica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Python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3.12 LTS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Lenguaje principal de desarrollo backend y procesamiento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Framework Web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Django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5.1+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Arquitectura MVT, ORM, motor de autenticación y sesiones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Base de Datos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PostgreSQL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16.x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Motor relacional ACID con triggers PL/pgSQL y soporte JSONB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Frontend &amp; UI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HTML5 / CSS3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Estándar W3C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Estructura semántica, diseño accesible y responsivo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Framework CSS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TailwindCSS / Bootstrap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3.4 / 5.3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Estilos corporativos modernos, modo oscuro y microinteracciones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Interactividad Web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JavaScript ES6+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Nativo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Validaciones de formularios y actualización asíncrona de turnos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Control de Versiones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Git &amp; GitHub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2.4x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Repositorio remoto, ramas de desarrollo y control de cambios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Diseño &amp; Prototipado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Figma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Cloud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Diseño de interfaces, wireframes y experiencia de usuario (UX/UI)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f883c94295_0_7"/>
          <p:cNvSpPr txBox="1"/>
          <p:nvPr/>
        </p:nvSpPr>
        <p:spPr>
          <a:xfrm>
            <a:off x="1357060" y="2878484"/>
            <a:ext cx="94779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Calibri"/>
              <a:buNone/>
            </a:pPr>
            <a:r>
              <a:rPr b="1" lang="es-CO" sz="6000"/>
              <a:t>IMPLEMENTACIÓN</a:t>
            </a:r>
            <a:endParaRPr b="1" sz="60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Font typeface="Calibri"/>
              <a:buNone/>
            </a:pPr>
            <a:r>
              <a:t/>
            </a:r>
            <a:endParaRPr b="1" sz="6000"/>
          </a:p>
        </p:txBody>
      </p:sp>
      <p:sp>
        <p:nvSpPr>
          <p:cNvPr id="315" name="Google Shape;315;g3f883c94295_0_7"/>
          <p:cNvSpPr txBox="1"/>
          <p:nvPr/>
        </p:nvSpPr>
        <p:spPr>
          <a:xfrm>
            <a:off x="2670325" y="1981825"/>
            <a:ext cx="538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500"/>
              <a:t>FASE 05</a:t>
            </a:r>
            <a:endParaRPr b="1" sz="25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  <a:defRPr sz="2800" b="1">
                <a:solidFill>
                  <a:srgbClr val="16161E"/>
                </a:solidFill>
                <a:latin typeface="Arial"/>
              </a:defRPr>
            </a:pPr>
            <a:r>
              <a:t>Especificación de Caso de Prueba</a:t>
            </a:r>
            <a:endParaRPr b="1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1" name="Google Shape;321;p30"/>
          <p:cNvPicPr preferRelativeResize="0"/>
          <p:nvPr/>
        </p:nvPicPr>
        <p:blipFill rotWithShape="1">
          <a:blip r:embed="rId3">
            <a:alphaModFix/>
          </a:blip>
          <a:srcRect b="22930" l="24974" r="24979" t="22925"/>
          <a:stretch/>
        </p:blipFill>
        <p:spPr>
          <a:xfrm>
            <a:off x="11098751" y="195649"/>
            <a:ext cx="816775" cy="80407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TextBox 321"/>
          <p:cNvSpPr txBox="1"/>
          <p:nvPr/>
        </p:nvSpPr>
        <p:spPr>
          <a:xfrm>
            <a:off x="841248" y="16459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16161E"/>
                </a:solidFill>
                <a:latin typeface="Arial"/>
              </a:defRPr>
            </a:pPr>
            <a:r>
              <a:t>Matriz de Ejecución y Validación de Casos de Prueba del Sistema:</a:t>
            </a:r>
          </a:p>
        </p:txBody>
      </p:sp>
      <p:graphicFrame>
        <p:nvGraphicFramePr>
          <p:cNvPr id="323" name="Table 322"/>
          <p:cNvGraphicFramePr>
            <a:graphicFrameLocks noGrp="1"/>
          </p:cNvGraphicFramePr>
          <p:nvPr/>
        </p:nvGraphicFramePr>
        <p:xfrm>
          <a:off x="841248" y="2148840"/>
          <a:ext cx="105156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377440"/>
                <a:gridCol w="2926080"/>
                <a:gridCol w="3017520"/>
                <a:gridCol w="109728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ID Caso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Módulo / Función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Entrada / Acción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Resultado Esperado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Resultado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CP-01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Motor de Agendamiento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Cliente selecciona dispositivo, servicio y franja horaria disponible.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Cita registrada en BD, franja horaria bloqueada y ticket generado.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Aprobado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CP-02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Control de Colisiones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Segundo cliente intenta reservar la misma franja ya ocupada.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Sistema rechaza la reserva y muestra alerta de indisponibilidad.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Aprobado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CP-03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Aviso 'Llegaré Tarde'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Cliente pulsa botón de aviso (+15 min) desde recordatorio.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Estado cambia a 'Retrasado con Aviso' y amplía tolerancia en box.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Aprobado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CP-04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Pausa de Turno Técnico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Técnico intenta pausar turno con orden activa en ejecución.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Sistema bloquea la pausa exigiendo finalizar o liberar la orden.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Aprobado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CP-05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Auditoría Automática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Modificación o eliminación directa de registro en tabla citas.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Trigger PL/pgSQL genera snapshot inmutable en auditoria_log (&lt; 5 ms).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Aprobado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CP-06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Consulta de Ticket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Cliente ingresa código de orden en buscador de seguimiento público.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6161E"/>
                          </a:solidFill>
                          <a:latin typeface="Arial"/>
                        </a:defRPr>
                      </a:pPr>
                      <a:r>
                        <a:t>Despliegue inmediato del estado actual del equipo sin requerir login.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E7D32"/>
                          </a:solidFill>
                          <a:latin typeface="Arial"/>
                        </a:defRPr>
                      </a:pPr>
                      <a:r>
                        <a:t>Aprobado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2013 - Tema de 2022">
  <a:themeElements>
    <a:clrScheme name="Personalizado 1">
      <a:dk1>
        <a:srgbClr val="39A900"/>
      </a:dk1>
      <a:lt1>
        <a:srgbClr val="FFFFFF"/>
      </a:lt1>
      <a:dk2>
        <a:srgbClr val="00304D"/>
      </a:dk2>
      <a:lt2>
        <a:srgbClr val="F6F6F6"/>
      </a:lt2>
      <a:accent1>
        <a:srgbClr val="007832"/>
      </a:accent1>
      <a:accent2>
        <a:srgbClr val="71127A"/>
      </a:accent2>
      <a:accent3>
        <a:srgbClr val="50E5F9"/>
      </a:accent3>
      <a:accent4>
        <a:srgbClr val="FDC300"/>
      </a:accent4>
      <a:accent5>
        <a:srgbClr val="000000"/>
      </a:accent5>
      <a:accent6>
        <a:srgbClr val="70AD47"/>
      </a:accent6>
      <a:hlink>
        <a:srgbClr val="0563C1"/>
      </a:hlink>
      <a:folHlink>
        <a:srgbClr val="71127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2020-10-01T23:51:28Z</dcterms:created>
  <dc:creator>Jorge Enrique Pedraza Sanchez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c111285-cafa-4fc9-8a9a-bd902089b24f_Enabled">
    <vt:lpwstr>true</vt:lpwstr>
  </property>
  <property fmtid="{D5CDD505-2E9C-101B-9397-08002B2CF9AE}" pid="3" name="MSIP_Label_fc111285-cafa-4fc9-8a9a-bd902089b24f_SetDate">
    <vt:lpwstr>2025-07-11T16:31:34Z</vt:lpwstr>
  </property>
  <property fmtid="{D5CDD505-2E9C-101B-9397-08002B2CF9AE}" pid="4" name="MSIP_Label_fc111285-cafa-4fc9-8a9a-bd902089b24f_Method">
    <vt:lpwstr>Privileged</vt:lpwstr>
  </property>
  <property fmtid="{D5CDD505-2E9C-101B-9397-08002B2CF9AE}" pid="5" name="MSIP_Label_fc111285-cafa-4fc9-8a9a-bd902089b24f_Name">
    <vt:lpwstr>Public</vt:lpwstr>
  </property>
  <property fmtid="{D5CDD505-2E9C-101B-9397-08002B2CF9AE}" pid="6" name="MSIP_Label_fc111285-cafa-4fc9-8a9a-bd902089b24f_SiteId">
    <vt:lpwstr>cbc2c381-2f2e-4d93-91d1-506c9316ace7</vt:lpwstr>
  </property>
  <property fmtid="{D5CDD505-2E9C-101B-9397-08002B2CF9AE}" pid="7" name="MSIP_Label_fc111285-cafa-4fc9-8a9a-bd902089b24f_ActionId">
    <vt:lpwstr>c6329c04-9ceb-4fca-88c8-0029777b3481</vt:lpwstr>
  </property>
  <property fmtid="{D5CDD505-2E9C-101B-9397-08002B2CF9AE}" pid="8" name="MSIP_Label_fc111285-cafa-4fc9-8a9a-bd902089b24f_ContentBits">
    <vt:lpwstr>0</vt:lpwstr>
  </property>
  <property fmtid="{D5CDD505-2E9C-101B-9397-08002B2CF9AE}" pid="9" name="MSIP_Label_fc111285-cafa-4fc9-8a9a-bd902089b24f_Tag">
    <vt:lpwstr>10, 0, 1, 1</vt:lpwstr>
  </property>
  <property fmtid="{D5CDD505-2E9C-101B-9397-08002B2CF9AE}" pid="10" name="ContentTypeId">
    <vt:lpwstr>0x010100DFC498A2056BBE41884A04D4FF5445B0</vt:lpwstr>
  </property>
  <property fmtid="{D5CDD505-2E9C-101B-9397-08002B2CF9AE}" pid="11" name="MediaServiceImageTags">
    <vt:lpwstr/>
  </property>
  <property fmtid="{D5CDD505-2E9C-101B-9397-08002B2CF9AE}" pid="12" name="Order">
    <vt:r8>194900.0</vt:r8>
  </property>
  <property fmtid="{D5CDD505-2E9C-101B-9397-08002B2CF9AE}" pid="13" name="xd_Signature">
    <vt:bool>false</vt:bool>
  </property>
  <property fmtid="{D5CDD505-2E9C-101B-9397-08002B2CF9AE}" pid="14" name="xd_ProgID">
    <vt:lpwstr/>
  </property>
  <property fmtid="{D5CDD505-2E9C-101B-9397-08002B2CF9AE}" pid="15" name="_SourceUrl">
    <vt:lpwstr/>
  </property>
  <property fmtid="{D5CDD505-2E9C-101B-9397-08002B2CF9AE}" pid="16" name="_SharedFileIndex">
    <vt:lpwstr/>
  </property>
  <property fmtid="{D5CDD505-2E9C-101B-9397-08002B2CF9AE}" pid="17" name="ComplianceAssetId">
    <vt:lpwstr/>
  </property>
  <property fmtid="{D5CDD505-2E9C-101B-9397-08002B2CF9AE}" pid="18" name="TemplateUrl">
    <vt:lpwstr/>
  </property>
  <property fmtid="{D5CDD505-2E9C-101B-9397-08002B2CF9AE}" pid="19" name="_ExtendedDescription">
    <vt:lpwstr/>
  </property>
  <property fmtid="{D5CDD505-2E9C-101B-9397-08002B2CF9AE}" pid="20" name="TriggerFlowInfo">
    <vt:lpwstr/>
  </property>
</Properties>
</file>