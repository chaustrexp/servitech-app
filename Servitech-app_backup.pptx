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6858000" cx="12192000"/>
  <p:notesSz cx="6858000" cy="9144000"/>
  <p:embeddedFontLst>
    <p:embeddedFont>
      <p:font typeface="Work Sans SemiBold"/>
      <p:regular r:id="rId41"/>
      <p:bold r:id="rId42"/>
      <p:italic r:id="rId43"/>
      <p:boldItalic r:id="rId44"/>
    </p:embeddedFont>
    <p:embeddedFont>
      <p:font typeface="Work Sans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  <p15:guide id="4" pos="438">
          <p15:clr>
            <a:srgbClr val="A4A3A4"/>
          </p15:clr>
        </p15:guide>
        <p15:guide id="5" orient="horz" pos="2387">
          <p15:clr>
            <a:srgbClr val="A4A3A4"/>
          </p15:clr>
        </p15:guide>
        <p15:guide id="6" orient="horz" pos="2840">
          <p15:clr>
            <a:srgbClr val="A4A3A4"/>
          </p15:clr>
        </p15:guide>
      </p15:sldGuideLst>
    </p:ext>
    <p:ext uri="GoogleSlidesCustomDataVersion2">
      <go:slidesCustomData xmlns:go="http://customooxmlschemas.google.com/" r:id="rId49" roundtripDataSignature="AMtx7mj91eL9+lqRw0debmj2YHGfbiS8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  <p:guide pos="438"/>
        <p:guide pos="2387" orient="horz"/>
        <p:guide pos="28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WorkSansSemiBold-bold.fntdata"/><Relationship Id="rId41" Type="http://schemas.openxmlformats.org/officeDocument/2006/relationships/font" Target="fonts/WorkSansSemiBold-regular.fntdata"/><Relationship Id="rId44" Type="http://schemas.openxmlformats.org/officeDocument/2006/relationships/font" Target="fonts/WorkSansSemiBold-boldItalic.fntdata"/><Relationship Id="rId43" Type="http://schemas.openxmlformats.org/officeDocument/2006/relationships/font" Target="fonts/WorkSansSemiBold-italic.fntdata"/><Relationship Id="rId46" Type="http://schemas.openxmlformats.org/officeDocument/2006/relationships/font" Target="fonts/WorkSans-bold.fntdata"/><Relationship Id="rId45" Type="http://schemas.openxmlformats.org/officeDocument/2006/relationships/font" Target="fonts/Work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WorkSans-boldItalic.fntdata"/><Relationship Id="rId47" Type="http://schemas.openxmlformats.org/officeDocument/2006/relationships/font" Target="fonts/WorkSans-italic.fntdata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85abcdf13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f85abcdf13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f85abcdf13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85abcdf13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3f85abcdf13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883c94295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g3f883c94295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883c94295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g3f883c94295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883c94295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g3f883c94295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0ee9bbb6f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g3f0ee9bbb6f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883c94295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g3f883c94295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3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EC388"/>
              </a:buClr>
              <a:buSzPts val="2400"/>
              <a:buNone/>
              <a:defRPr sz="2400">
                <a:solidFill>
                  <a:srgbClr val="8EC3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2000"/>
              <a:buNone/>
              <a:defRPr sz="2000">
                <a:solidFill>
                  <a:srgbClr val="8EC3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800"/>
              <a:buNone/>
              <a:defRPr sz="1800">
                <a:solidFill>
                  <a:srgbClr val="8EC3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9pPr>
          </a:lstStyle>
          <a:p/>
        </p:txBody>
      </p:sp>
      <p:sp>
        <p:nvSpPr>
          <p:cNvPr id="41" name="Google Shape;41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4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4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4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21.png"/><Relationship Id="rId13" Type="http://schemas.openxmlformats.org/officeDocument/2006/relationships/image" Target="../media/image30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9" Type="http://schemas.openxmlformats.org/officeDocument/2006/relationships/image" Target="../media/image10.png"/><Relationship Id="rId14" Type="http://schemas.openxmlformats.org/officeDocument/2006/relationships/image" Target="../media/image2.png"/><Relationship Id="rId5" Type="http://schemas.openxmlformats.org/officeDocument/2006/relationships/image" Target="../media/image28.png"/><Relationship Id="rId6" Type="http://schemas.openxmlformats.org/officeDocument/2006/relationships/image" Target="../media/image22.png"/><Relationship Id="rId7" Type="http://schemas.openxmlformats.org/officeDocument/2006/relationships/image" Target="../media/image25.png"/><Relationship Id="rId8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 b="22927" l="24976" r="24976" t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391886" y="296863"/>
            <a:ext cx="3170298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 reservada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045101" y="2493779"/>
            <a:ext cx="9608385" cy="175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142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00AE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6" name="Google Shape;96;p1"/>
          <p:cNvSpPr txBox="1"/>
          <p:nvPr>
            <p:ph type="ctrTitle"/>
          </p:nvPr>
        </p:nvSpPr>
        <p:spPr>
          <a:xfrm>
            <a:off x="1277281" y="2365187"/>
            <a:ext cx="9144000" cy="201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Arial"/>
              <a:buNone/>
            </a:pPr>
            <a:r>
              <a:rPr b="1" lang="es-CO" sz="4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Sistema Web de Agendamiento y Gestión de Servicios de Reparación Técnica (Servitech-app) </a:t>
            </a:r>
            <a:endParaRPr b="1" sz="4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99750" y="4029230"/>
            <a:ext cx="1282500" cy="129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"/>
          <p:cNvPicPr preferRelativeResize="0"/>
          <p:nvPr/>
        </p:nvPicPr>
        <p:blipFill rotWithShape="1">
          <a:blip r:embed="rId4">
            <a:alphaModFix/>
          </a:blip>
          <a:srcRect b="22927" l="24976" r="24976" t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391886" y="296863"/>
            <a:ext cx="3170298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 reservada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018101" y="2493779"/>
            <a:ext cx="96084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142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00AE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05" name="Google Shape;105;p2"/>
          <p:cNvSpPr txBox="1"/>
          <p:nvPr>
            <p:ph type="ctrTitle"/>
          </p:nvPr>
        </p:nvSpPr>
        <p:spPr>
          <a:xfrm>
            <a:off x="1524000" y="1118804"/>
            <a:ext cx="9144000" cy="20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Arial"/>
              <a:buNone/>
            </a:pPr>
            <a:r>
              <a:rPr b="1" lang="es-CO" sz="4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Sistema Web de Agendamiento y Gestión de Servicios de Reparación Técnica (Servitech-app) </a:t>
            </a:r>
            <a:endParaRPr b="1" sz="3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4412393" y="3789379"/>
            <a:ext cx="33672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O" sz="17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APRENDICES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O" sz="1700">
                <a:solidFill>
                  <a:schemeClr val="accent5"/>
                </a:solidFill>
              </a:rPr>
              <a:t>Juan Bayona</a:t>
            </a:r>
            <a:endParaRPr sz="1700">
              <a:solidFill>
                <a:schemeClr val="accent5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O" sz="1700">
                <a:solidFill>
                  <a:schemeClr val="accent5"/>
                </a:solidFill>
              </a:rPr>
              <a:t>Cristian Contreras</a:t>
            </a:r>
            <a:endParaRPr sz="1700">
              <a:solidFill>
                <a:schemeClr val="accent5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O" sz="1700">
                <a:solidFill>
                  <a:schemeClr val="accent5"/>
                </a:solidFill>
              </a:rPr>
              <a:t>Emmanuel Flores</a:t>
            </a:r>
            <a:endParaRPr sz="1700">
              <a:solidFill>
                <a:schemeClr val="accent5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O" sz="1700">
                <a:solidFill>
                  <a:schemeClr val="accent5"/>
                </a:solidFill>
              </a:rPr>
              <a:t>Breyner  Peña </a:t>
            </a:r>
            <a:endParaRPr sz="1700">
              <a:solidFill>
                <a:schemeClr val="accent5"/>
              </a:solidFill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4412411" y="5363736"/>
            <a:ext cx="335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>
                <a:solidFill>
                  <a:schemeClr val="accent5"/>
                </a:solidFill>
              </a:rPr>
              <a:t>Septiembre </a:t>
            </a:r>
            <a:r>
              <a:rPr b="0" i="0" lang="es-CO" sz="1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18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71325" y="4910450"/>
            <a:ext cx="986548" cy="99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/>
        </p:nvSpPr>
        <p:spPr>
          <a:xfrm>
            <a:off x="1518010" y="2886638"/>
            <a:ext cx="9477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Calibri"/>
              <a:buNone/>
            </a:pPr>
            <a:r>
              <a:rPr b="1" lang="es-CO" sz="6000">
                <a:solidFill>
                  <a:schemeClr val="accent5"/>
                </a:solidFill>
              </a:rPr>
              <a:t>FORMULACIÓN</a:t>
            </a:r>
            <a:r>
              <a:rPr b="1" i="0" lang="es-CO" sz="6000" u="none" cap="none" strike="noStrike">
                <a:solidFill>
                  <a:schemeClr val="accent5"/>
                </a:solidFill>
              </a:rPr>
              <a:t> DEL PROYECTO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2521575" y="1751775"/>
            <a:ext cx="538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500"/>
              <a:t>FASE 01 </a:t>
            </a:r>
            <a:endParaRPr b="1"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>
            <p:ph type="title"/>
          </p:nvPr>
        </p:nvSpPr>
        <p:spPr>
          <a:xfrm>
            <a:off x="67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Arial"/>
              <a:buNone/>
            </a:pPr>
            <a:r>
              <a:rPr b="1" lang="es-CO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Planteamiento del Problema</a:t>
            </a:r>
            <a:endParaRPr/>
          </a:p>
        </p:txBody>
      </p:sp>
      <p:sp>
        <p:nvSpPr>
          <p:cNvPr id="120" name="Google Shape;120;p4"/>
          <p:cNvSpPr txBox="1"/>
          <p:nvPr>
            <p:ph idx="1" type="body"/>
          </p:nvPr>
        </p:nvSpPr>
        <p:spPr>
          <a:xfrm>
            <a:off x="597500" y="1690700"/>
            <a:ext cx="10677000" cy="52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</a:pPr>
            <a:r>
              <a:rPr lang="es-CO" sz="2500">
                <a:solidFill>
                  <a:srgbClr val="16161E"/>
                </a:solidFill>
                <a:latin typeface="Arial"/>
                <a:ea typeface="Arial"/>
                <a:cs typeface="Arial"/>
                <a:sym typeface="Arial"/>
              </a:rPr>
              <a:t>La gestión manual de reparaciones en talleres de servicio técnico (móviles, computadores y laptops) provoca desorden en el seguimiento de equipos, falta de claridad en las garantías, pérdida de repuestos y poca visibilidad para los clientes sobre el estado de sus dispositivos.</a:t>
            </a:r>
            <a:r>
              <a:rPr lang="es-CO">
                <a:solidFill>
                  <a:srgbClr val="16161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700">
              <a:solidFill>
                <a:srgbClr val="16161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Arial"/>
              <a:buNone/>
            </a:pPr>
            <a:r>
              <a:rPr b="1" lang="es-CO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Justificación</a:t>
            </a:r>
            <a:endParaRPr/>
          </a:p>
        </p:txBody>
      </p:sp>
      <p:sp>
        <p:nvSpPr>
          <p:cNvPr id="126" name="Google Shape;126;p5"/>
          <p:cNvSpPr txBox="1"/>
          <p:nvPr>
            <p:ph idx="1" type="body"/>
          </p:nvPr>
        </p:nvSpPr>
        <p:spPr>
          <a:xfrm>
            <a:off x="838200" y="1690700"/>
            <a:ext cx="10515600" cy="49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s-CO" sz="25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La implementación de una plataforma web especializada optimiza el control de órdenes de servicio, agiliza la comunicación con los clientes y reduce los errores humanos en el inventario y la asignación de tareas técnicas. </a:t>
            </a:r>
            <a:endParaRPr sz="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7270975" y="2313550"/>
            <a:ext cx="46110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Arial"/>
              <a:buNone/>
            </a:pPr>
            <a:r>
              <a:rPr b="1" lang="es-CO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/>
          </a:p>
        </p:txBody>
      </p:sp>
      <p:sp>
        <p:nvSpPr>
          <p:cNvPr id="133" name="Google Shape;13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</a:pPr>
            <a:r>
              <a:rPr lang="es-CO" sz="2500">
                <a:solidFill>
                  <a:srgbClr val="16161E"/>
                </a:solidFill>
                <a:latin typeface="Arial"/>
                <a:ea typeface="Arial"/>
                <a:cs typeface="Arial"/>
                <a:sym typeface="Arial"/>
              </a:rPr>
              <a:t>Desarrollar un sistema web centralizado para la gestión integral de órdenes de servicio y reparación en talleres técnicos, optimizando el flujo de trabajo, el control de inventario y la trazabilidad de los dispositivos. </a:t>
            </a:r>
            <a:endParaRPr sz="2500">
              <a:solidFill>
                <a:srgbClr val="16161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 b="22930" l="24974" r="24979" t="22925"/>
          <a:stretch/>
        </p:blipFill>
        <p:spPr>
          <a:xfrm>
            <a:off x="11037350" y="296873"/>
            <a:ext cx="795175" cy="78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b="1" lang="es-CO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 txBox="1"/>
          <p:nvPr>
            <p:ph idx="1" type="body"/>
          </p:nvPr>
        </p:nvSpPr>
        <p:spPr>
          <a:xfrm>
            <a:off x="838200" y="1825625"/>
            <a:ext cx="9025800" cy="4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500"/>
              <a:buChar char="•"/>
            </a:pPr>
            <a:r>
              <a:rPr lang="es-CO" sz="25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Diseñar un módulo de recepción para registrar equipos, fallas reportadas y datos del cliente ágilmente.</a:t>
            </a:r>
            <a:endParaRPr sz="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500"/>
              <a:buChar char="•"/>
            </a:pPr>
            <a:r>
              <a:rPr lang="es-CO" sz="25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Automatizar la actualización de estados de reparación en tiempo real para mantener informado al usuario.</a:t>
            </a:r>
            <a:endParaRPr sz="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500"/>
              <a:buChar char="•"/>
            </a:pPr>
            <a:r>
              <a:rPr lang="es-CO" sz="25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Controlar el inventario de repuestos y componentes asociados a cada orden de servicio.</a:t>
            </a:r>
            <a:endParaRPr sz="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500"/>
              <a:buChar char="•"/>
            </a:pPr>
            <a:r>
              <a:rPr lang="es-CO" sz="25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Generar reportes gerenciales para auditar el rendimiento del taller y los tiempos de entrega.</a:t>
            </a:r>
            <a:endParaRPr sz="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b="1" lang="es-CO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s-CO" sz="2500">
                <a:solidFill>
                  <a:srgbClr val="16161E"/>
                </a:solidFill>
                <a:latin typeface="Arial"/>
                <a:ea typeface="Arial"/>
                <a:cs typeface="Arial"/>
                <a:sym typeface="Arial"/>
              </a:rPr>
              <a:t>El sistema gestionará exclusivamente los procesos internos y de atención presencial del taller mediante módulos de recepción, panel técnico, control de inventario y dashboard administrativo. </a:t>
            </a:r>
            <a:endParaRPr sz="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b="1" lang="es-CO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Riesgos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 txBox="1"/>
          <p:nvPr>
            <p:ph idx="1" type="body"/>
          </p:nvPr>
        </p:nvSpPr>
        <p:spPr>
          <a:xfrm>
            <a:off x="434150" y="1706850"/>
            <a:ext cx="11757900" cy="48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500"/>
              <a:buChar char="•"/>
            </a:pPr>
            <a:r>
              <a:rPr lang="es-CO" sz="25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Caídas de Red o Servidor: Si falla la red local o el servidor, el sistema de turnos se detiene, paralizando la atención presencial.</a:t>
            </a:r>
            <a:endParaRPr sz="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500"/>
              <a:buChar char="•"/>
            </a:pPr>
            <a:r>
              <a:rPr lang="es-CO" sz="25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Resistencia al Cambio: Que los usuarios (especialmente adultos mayores) no sepan usar el sistema web  y requieran personal de apoyo constante.</a:t>
            </a:r>
            <a:endParaRPr sz="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500"/>
              <a:buChar char="•"/>
            </a:pPr>
            <a:r>
              <a:rPr lang="es-CO" sz="25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Desconexión u Omisión Operativa: Que los técnicos olviden actualizar el estado de una reparación en el sistema tras finalizar un equipo, generando desactualización en el inventario o retrasos en la notificación al cliente.</a:t>
            </a:r>
            <a:endParaRPr sz="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500"/>
              <a:buChar char="•"/>
            </a:pPr>
            <a:r>
              <a:rPr lang="es-CO" sz="25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Caídas de red local: Pérdida temporal de conexión con el servidor o resistencia del personal al nuevo software.</a:t>
            </a:r>
            <a:endParaRPr sz="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b="1" lang="es-CO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Restricciones: 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500"/>
              <a:buFont typeface="Arial"/>
              <a:buChar char="•"/>
            </a:pPr>
            <a:r>
              <a:rPr lang="es-CO" sz="25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Uso obligatorio del stack tecnológico definido en el repositorio para la arquitectura de </a:t>
            </a:r>
            <a:r>
              <a:rPr b="1" lang="es-CO" sz="25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Servitech-app</a:t>
            </a:r>
            <a:r>
              <a:rPr lang="es-CO" sz="25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1" lang="es-CO" sz="25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HTML, Python, PLpgSQL y JavaScript</a:t>
            </a:r>
            <a:r>
              <a:rPr lang="es-CO" sz="25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), aplicando control de tareas del sistema mediante </a:t>
            </a:r>
            <a:r>
              <a:rPr b="1" lang="es-CO" sz="25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Jira</a:t>
            </a:r>
            <a:r>
              <a:rPr lang="es-CO" sz="25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500"/>
              <a:buFont typeface="Arial"/>
              <a:buChar char="•"/>
            </a:pPr>
            <a:r>
              <a:rPr lang="es-CO" sz="25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El sistema requiere que los equipos de cómputo en las estaciones de trabajo del taller cuenten con un rendimiento mínimo de </a:t>
            </a:r>
            <a:r>
              <a:rPr b="1" lang="es-CO" sz="25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4 GB de RAM en adelante</a:t>
            </a:r>
            <a:r>
              <a:rPr lang="es-CO" sz="25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, garantizando una correcta ejecución en navegadores web modernos.</a:t>
            </a:r>
            <a:endParaRPr sz="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85abcdf13_0_7"/>
          <p:cNvSpPr txBox="1"/>
          <p:nvPr>
            <p:ph type="title"/>
          </p:nvPr>
        </p:nvSpPr>
        <p:spPr>
          <a:xfrm>
            <a:off x="399075" y="112850"/>
            <a:ext cx="55038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Cronograma: </a:t>
            </a:r>
            <a:endParaRPr b="1"/>
          </a:p>
        </p:txBody>
      </p:sp>
      <p:pic>
        <p:nvPicPr>
          <p:cNvPr id="165" name="Google Shape;165;g3f85abcdf13_0_7"/>
          <p:cNvPicPr preferRelativeResize="0"/>
          <p:nvPr/>
        </p:nvPicPr>
        <p:blipFill rotWithShape="1">
          <a:blip r:embed="rId3">
            <a:alphaModFix/>
          </a:blip>
          <a:srcRect b="22930" l="24974" r="24979" t="22925"/>
          <a:stretch/>
        </p:blipFill>
        <p:spPr>
          <a:xfrm>
            <a:off x="11026773" y="365126"/>
            <a:ext cx="756150" cy="7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f85abcdf13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6250" y="1072150"/>
            <a:ext cx="8605198" cy="5736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 txBox="1"/>
          <p:nvPr/>
        </p:nvSpPr>
        <p:spPr>
          <a:xfrm>
            <a:off x="1159625" y="3081824"/>
            <a:ext cx="91440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Calibri"/>
              <a:buNone/>
            </a:pPr>
            <a:r>
              <a:rPr b="1" lang="es-CO" sz="6000">
                <a:solidFill>
                  <a:schemeClr val="accent5"/>
                </a:solidFill>
              </a:rPr>
              <a:t>ANÁLISIS</a:t>
            </a:r>
            <a:endParaRPr b="1" i="0" sz="6000" u="none" cap="none" strike="noStrike">
              <a:solidFill>
                <a:schemeClr val="dk1"/>
              </a:solidFill>
            </a:endParaRPr>
          </a:p>
        </p:txBody>
      </p:sp>
      <p:sp>
        <p:nvSpPr>
          <p:cNvPr id="172" name="Google Shape;172;p12"/>
          <p:cNvSpPr txBox="1"/>
          <p:nvPr/>
        </p:nvSpPr>
        <p:spPr>
          <a:xfrm>
            <a:off x="4083000" y="2406050"/>
            <a:ext cx="2013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500"/>
              <a:t>FASE 02</a:t>
            </a:r>
            <a:endParaRPr b="1" sz="2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b="1" lang="es-CO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Ingeniería</a:t>
            </a:r>
            <a:r>
              <a:rPr b="1" lang="es-CO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de Requisitos</a:t>
            </a:r>
            <a:endParaRPr b="1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b="1" lang="es-CO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Matriz Stakeholders </a:t>
            </a:r>
            <a:endParaRPr b="1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b="1" lang="es-CO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Herramienta para la Captura de Requisitos</a:t>
            </a:r>
            <a:endParaRPr b="1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 txBox="1"/>
          <p:nvPr/>
        </p:nvSpPr>
        <p:spPr>
          <a:xfrm>
            <a:off x="460775" y="429750"/>
            <a:ext cx="115806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400">
                <a:solidFill>
                  <a:schemeClr val="accent5"/>
                </a:solidFill>
              </a:rPr>
              <a:t>Herramienta para la Captura de </a:t>
            </a:r>
            <a:endParaRPr b="1" sz="44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400">
                <a:solidFill>
                  <a:schemeClr val="accent5"/>
                </a:solidFill>
              </a:rPr>
              <a:t>Requisitos</a:t>
            </a:r>
            <a:endParaRPr b="1" sz="44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b="1" lang="es-CO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Requisitos Funcionales</a:t>
            </a:r>
            <a:endParaRPr b="1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b="1" lang="es-CO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Requisitos no Funcionales</a:t>
            </a:r>
            <a:endParaRPr b="1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8"/>
          <p:cNvSpPr txBox="1"/>
          <p:nvPr>
            <p:ph idx="1" type="body"/>
          </p:nvPr>
        </p:nvSpPr>
        <p:spPr>
          <a:xfrm>
            <a:off x="594143" y="1823379"/>
            <a:ext cx="103929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b="1" lang="es-CO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Técnica de Priorización de Requisitos </a:t>
            </a:r>
            <a:endParaRPr b="1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85abcdf13_0_24"/>
          <p:cNvSpPr txBox="1"/>
          <p:nvPr/>
        </p:nvSpPr>
        <p:spPr>
          <a:xfrm>
            <a:off x="1198260" y="3205509"/>
            <a:ext cx="94779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Calibri"/>
              <a:buNone/>
            </a:pPr>
            <a:r>
              <a:rPr b="1" lang="es-CO" sz="6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DISEÑO</a:t>
            </a:r>
            <a:endParaRPr b="1" sz="6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Calibri"/>
              <a:buNone/>
            </a:pPr>
            <a:r>
              <a:t/>
            </a:r>
            <a:endParaRPr b="1" sz="6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f85abcdf13_0_24"/>
          <p:cNvSpPr txBox="1"/>
          <p:nvPr/>
        </p:nvSpPr>
        <p:spPr>
          <a:xfrm>
            <a:off x="4801950" y="3019075"/>
            <a:ext cx="538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500"/>
              <a:t>FASE 03 </a:t>
            </a:r>
            <a:endParaRPr b="1" sz="25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 txBox="1"/>
          <p:nvPr>
            <p:ph type="title"/>
          </p:nvPr>
        </p:nvSpPr>
        <p:spPr>
          <a:xfrm>
            <a:off x="838200" y="5056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b="1" lang="es-CO">
                <a:solidFill>
                  <a:schemeClr val="accent5"/>
                </a:solidFill>
              </a:rPr>
              <a:t>Caso de Usos</a:t>
            </a:r>
            <a:endParaRPr b="1">
              <a:solidFill>
                <a:schemeClr val="accent5"/>
              </a:solidFill>
            </a:endParaRPr>
          </a:p>
        </p:txBody>
      </p:sp>
      <p:pic>
        <p:nvPicPr>
          <p:cNvPr id="220" name="Google Shape;22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5225" y="156700"/>
            <a:ext cx="4771526" cy="65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b="1" lang="es-CO">
                <a:solidFill>
                  <a:schemeClr val="accent5"/>
                </a:solidFill>
              </a:rPr>
              <a:t>Caso de Usos tablas</a:t>
            </a:r>
            <a:endParaRPr b="1">
              <a:solidFill>
                <a:schemeClr val="accent5"/>
              </a:solidFill>
            </a:endParaRPr>
          </a:p>
        </p:txBody>
      </p:sp>
      <p:pic>
        <p:nvPicPr>
          <p:cNvPr id="226" name="Google Shape;226;p22"/>
          <p:cNvPicPr preferRelativeResize="0"/>
          <p:nvPr/>
        </p:nvPicPr>
        <p:blipFill rotWithShape="1">
          <a:blip r:embed="rId3">
            <a:alphaModFix/>
          </a:blip>
          <a:srcRect b="22930" l="24974" r="24979" t="22925"/>
          <a:stretch/>
        </p:blipFill>
        <p:spPr>
          <a:xfrm>
            <a:off x="11015700" y="296873"/>
            <a:ext cx="786700" cy="77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9425" y="1305675"/>
            <a:ext cx="5579850" cy="541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883c94295_0_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b="1" lang="es-CO">
                <a:solidFill>
                  <a:schemeClr val="accent5"/>
                </a:solidFill>
              </a:rPr>
              <a:t>Caso de Usos tablas</a:t>
            </a:r>
            <a:endParaRPr b="1">
              <a:solidFill>
                <a:schemeClr val="accent5"/>
              </a:solidFill>
            </a:endParaRPr>
          </a:p>
        </p:txBody>
      </p:sp>
      <p:pic>
        <p:nvPicPr>
          <p:cNvPr id="233" name="Google Shape;233;g3f883c94295_0_13"/>
          <p:cNvPicPr preferRelativeResize="0"/>
          <p:nvPr/>
        </p:nvPicPr>
        <p:blipFill rotWithShape="1">
          <a:blip r:embed="rId3">
            <a:alphaModFix/>
          </a:blip>
          <a:srcRect b="22930" l="24974" r="24979" t="22925"/>
          <a:stretch/>
        </p:blipFill>
        <p:spPr>
          <a:xfrm>
            <a:off x="11015700" y="296873"/>
            <a:ext cx="786700" cy="77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f883c94295_0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5850" y="1358201"/>
            <a:ext cx="5743050" cy="542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883c94295_0_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b="1" lang="es-CO">
                <a:solidFill>
                  <a:schemeClr val="accent5"/>
                </a:solidFill>
              </a:rPr>
              <a:t>Caso de Usos tablas</a:t>
            </a:r>
            <a:endParaRPr b="1">
              <a:solidFill>
                <a:schemeClr val="accent5"/>
              </a:solidFill>
            </a:endParaRPr>
          </a:p>
        </p:txBody>
      </p:sp>
      <p:pic>
        <p:nvPicPr>
          <p:cNvPr id="240" name="Google Shape;240;g3f883c94295_0_20"/>
          <p:cNvPicPr preferRelativeResize="0"/>
          <p:nvPr/>
        </p:nvPicPr>
        <p:blipFill rotWithShape="1">
          <a:blip r:embed="rId3">
            <a:alphaModFix/>
          </a:blip>
          <a:srcRect b="22930" l="24974" r="24979" t="22925"/>
          <a:stretch/>
        </p:blipFill>
        <p:spPr>
          <a:xfrm>
            <a:off x="11015700" y="296873"/>
            <a:ext cx="786700" cy="77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g3f883c94295_0_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7575" y="1441476"/>
            <a:ext cx="6765174" cy="515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883c94295_0_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b="1" lang="es-CO">
                <a:solidFill>
                  <a:schemeClr val="accent5"/>
                </a:solidFill>
              </a:rPr>
              <a:t>Caso de Usos tablas</a:t>
            </a:r>
            <a:endParaRPr b="1">
              <a:solidFill>
                <a:schemeClr val="accent5"/>
              </a:solidFill>
            </a:endParaRPr>
          </a:p>
        </p:txBody>
      </p:sp>
      <p:pic>
        <p:nvPicPr>
          <p:cNvPr id="247" name="Google Shape;247;g3f883c94295_0_27"/>
          <p:cNvPicPr preferRelativeResize="0"/>
          <p:nvPr/>
        </p:nvPicPr>
        <p:blipFill rotWithShape="1">
          <a:blip r:embed="rId3">
            <a:alphaModFix/>
          </a:blip>
          <a:srcRect b="22930" l="24974" r="24979" t="22925"/>
          <a:stretch/>
        </p:blipFill>
        <p:spPr>
          <a:xfrm>
            <a:off x="11015700" y="296873"/>
            <a:ext cx="786700" cy="77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3f883c94295_0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463" y="1264751"/>
            <a:ext cx="5819075" cy="538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"/>
          <p:cNvSpPr txBox="1"/>
          <p:nvPr>
            <p:ph type="title"/>
          </p:nvPr>
        </p:nvSpPr>
        <p:spPr>
          <a:xfrm>
            <a:off x="275450" y="161725"/>
            <a:ext cx="3080100" cy="8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b="1" lang="es-CO">
                <a:solidFill>
                  <a:schemeClr val="accent5"/>
                </a:solidFill>
              </a:rPr>
              <a:t>Mockups</a:t>
            </a:r>
            <a:endParaRPr b="1">
              <a:solidFill>
                <a:schemeClr val="accent5"/>
              </a:solidFill>
            </a:endParaRPr>
          </a:p>
        </p:txBody>
      </p:sp>
      <p:pic>
        <p:nvPicPr>
          <p:cNvPr id="254" name="Google Shape;254;p24"/>
          <p:cNvPicPr preferRelativeResize="0"/>
          <p:nvPr/>
        </p:nvPicPr>
        <p:blipFill rotWithShape="1">
          <a:blip r:embed="rId4">
            <a:alphaModFix/>
          </a:blip>
          <a:srcRect b="2091" l="2252" r="1917" t="4153"/>
          <a:stretch/>
        </p:blipFill>
        <p:spPr>
          <a:xfrm>
            <a:off x="345700" y="1037725"/>
            <a:ext cx="5891975" cy="390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4"/>
          <p:cNvPicPr preferRelativeResize="0"/>
          <p:nvPr/>
        </p:nvPicPr>
        <p:blipFill rotWithShape="1">
          <a:blip r:embed="rId5">
            <a:alphaModFix/>
          </a:blip>
          <a:srcRect b="1866" l="480" r="-480" t="11726"/>
          <a:stretch/>
        </p:blipFill>
        <p:spPr>
          <a:xfrm>
            <a:off x="6619000" y="2410575"/>
            <a:ext cx="5303076" cy="390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050" y="221025"/>
            <a:ext cx="3236726" cy="3418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94325" y="2194449"/>
            <a:ext cx="4235076" cy="347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15950" y="1090175"/>
            <a:ext cx="4272912" cy="341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b="1" lang="es-CO">
                <a:solidFill>
                  <a:schemeClr val="accent5"/>
                </a:solidFill>
              </a:rPr>
              <a:t>Diseño de la Base de Datos</a:t>
            </a:r>
            <a:endParaRPr b="1">
              <a:solidFill>
                <a:schemeClr val="accent5"/>
              </a:solidFill>
            </a:endParaRPr>
          </a:p>
        </p:txBody>
      </p:sp>
      <p:pic>
        <p:nvPicPr>
          <p:cNvPr id="269" name="Google Shape;269;p26"/>
          <p:cNvPicPr preferRelativeResize="0"/>
          <p:nvPr/>
        </p:nvPicPr>
        <p:blipFill rotWithShape="1">
          <a:blip r:embed="rId3">
            <a:alphaModFix/>
          </a:blip>
          <a:srcRect b="22930" l="24974" r="24979" t="22925"/>
          <a:stretch/>
        </p:blipFill>
        <p:spPr>
          <a:xfrm>
            <a:off x="11121100" y="365123"/>
            <a:ext cx="789800" cy="77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b="1" lang="es-CO">
                <a:solidFill>
                  <a:schemeClr val="accent5"/>
                </a:solidFill>
              </a:rPr>
              <a:t>Diseño de la Base de Datos Tabla</a:t>
            </a:r>
            <a:endParaRPr b="1">
              <a:solidFill>
                <a:schemeClr val="accent5"/>
              </a:solidFill>
            </a:endParaRPr>
          </a:p>
        </p:txBody>
      </p:sp>
      <p:pic>
        <p:nvPicPr>
          <p:cNvPr id="275" name="Google Shape;275;p27"/>
          <p:cNvPicPr preferRelativeResize="0"/>
          <p:nvPr/>
        </p:nvPicPr>
        <p:blipFill rotWithShape="1">
          <a:blip r:embed="rId3">
            <a:alphaModFix/>
          </a:blip>
          <a:srcRect b="22930" l="24974" r="24979" t="22925"/>
          <a:stretch/>
        </p:blipFill>
        <p:spPr>
          <a:xfrm>
            <a:off x="10822450" y="296873"/>
            <a:ext cx="786700" cy="77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b="1" lang="es-CO">
                <a:solidFill>
                  <a:schemeClr val="accent5"/>
                </a:solidFill>
              </a:rPr>
              <a:t>Diseño de la Base de Datos Tabla</a:t>
            </a:r>
            <a:endParaRPr/>
          </a:p>
        </p:txBody>
      </p:sp>
      <p:pic>
        <p:nvPicPr>
          <p:cNvPr id="281" name="Google Shape;281;p28"/>
          <p:cNvPicPr preferRelativeResize="0"/>
          <p:nvPr/>
        </p:nvPicPr>
        <p:blipFill rotWithShape="1">
          <a:blip r:embed="rId3">
            <a:alphaModFix/>
          </a:blip>
          <a:srcRect b="22930" l="24974" r="24979" t="22925"/>
          <a:stretch/>
        </p:blipFill>
        <p:spPr>
          <a:xfrm>
            <a:off x="11210427" y="296873"/>
            <a:ext cx="742450" cy="73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9"/>
          <p:cNvSpPr txBox="1"/>
          <p:nvPr/>
        </p:nvSpPr>
        <p:spPr>
          <a:xfrm>
            <a:off x="1357060" y="2878484"/>
            <a:ext cx="94779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Calibri"/>
              <a:buNone/>
            </a:pPr>
            <a:r>
              <a:rPr b="1" lang="es-CO" sz="6000"/>
              <a:t>DESARROLLO</a:t>
            </a:r>
            <a:endParaRPr b="1" i="0" sz="6000" u="none" cap="none" strike="noStrike">
              <a:solidFill>
                <a:srgbClr val="000000"/>
              </a:solidFill>
            </a:endParaRPr>
          </a:p>
        </p:txBody>
      </p:sp>
      <p:sp>
        <p:nvSpPr>
          <p:cNvPr id="287" name="Google Shape;287;p29"/>
          <p:cNvSpPr txBox="1"/>
          <p:nvPr/>
        </p:nvSpPr>
        <p:spPr>
          <a:xfrm>
            <a:off x="3485050" y="2594075"/>
            <a:ext cx="538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500"/>
              <a:t>FASE 04</a:t>
            </a:r>
            <a:endParaRPr b="1" sz="25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0ee9bbb6f_0_8"/>
          <p:cNvSpPr txBox="1"/>
          <p:nvPr>
            <p:ph type="title"/>
          </p:nvPr>
        </p:nvSpPr>
        <p:spPr>
          <a:xfrm>
            <a:off x="296275" y="1502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b="1" lang="es-CO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Software Usado</a:t>
            </a:r>
            <a:endParaRPr b="1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3" name="Google Shape;293;g3f0ee9bbb6f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625" y="1877475"/>
            <a:ext cx="1069676" cy="106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g3f0ee9bbb6f_0_8"/>
          <p:cNvPicPr preferRelativeResize="0"/>
          <p:nvPr/>
        </p:nvPicPr>
        <p:blipFill rotWithShape="1">
          <a:blip r:embed="rId4">
            <a:alphaModFix/>
          </a:blip>
          <a:srcRect b="8592" l="11527" r="8421" t="4178"/>
          <a:stretch/>
        </p:blipFill>
        <p:spPr>
          <a:xfrm>
            <a:off x="3293163" y="1910426"/>
            <a:ext cx="995425" cy="1084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g3f0ee9bbb6f_0_8"/>
          <p:cNvPicPr preferRelativeResize="0"/>
          <p:nvPr/>
        </p:nvPicPr>
        <p:blipFill rotWithShape="1">
          <a:blip r:embed="rId5">
            <a:alphaModFix/>
          </a:blip>
          <a:srcRect b="9488" l="6440" r="8039" t="9488"/>
          <a:stretch/>
        </p:blipFill>
        <p:spPr>
          <a:xfrm>
            <a:off x="3428925" y="4118151"/>
            <a:ext cx="995425" cy="942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g3f0ee9bbb6f_0_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81037" y="4091938"/>
            <a:ext cx="995425" cy="99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g3f0ee9bbb6f_0_8"/>
          <p:cNvPicPr preferRelativeResize="0"/>
          <p:nvPr/>
        </p:nvPicPr>
        <p:blipFill rotWithShape="1">
          <a:blip r:embed="rId7">
            <a:alphaModFix/>
          </a:blip>
          <a:srcRect b="0" l="6942" r="0" t="0"/>
          <a:stretch/>
        </p:blipFill>
        <p:spPr>
          <a:xfrm>
            <a:off x="915725" y="4152913"/>
            <a:ext cx="812826" cy="87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3f0ee9bbb6f_0_8"/>
          <p:cNvSpPr txBox="1"/>
          <p:nvPr/>
        </p:nvSpPr>
        <p:spPr>
          <a:xfrm>
            <a:off x="1728550" y="1308075"/>
            <a:ext cx="170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000"/>
              <a:t>Frontend</a:t>
            </a:r>
            <a:endParaRPr b="1" sz="2000"/>
          </a:p>
        </p:txBody>
      </p:sp>
      <p:sp>
        <p:nvSpPr>
          <p:cNvPr id="299" name="Google Shape;299;g3f0ee9bbb6f_0_8"/>
          <p:cNvSpPr txBox="1"/>
          <p:nvPr/>
        </p:nvSpPr>
        <p:spPr>
          <a:xfrm>
            <a:off x="1139275" y="3348700"/>
            <a:ext cx="3363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000"/>
              <a:t>Framework y </a:t>
            </a:r>
            <a:r>
              <a:rPr b="1" lang="es-CO" sz="2000"/>
              <a:t>Librerías</a:t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</p:txBody>
      </p:sp>
      <p:sp>
        <p:nvSpPr>
          <p:cNvPr id="300" name="Google Shape;300;g3f0ee9bbb6f_0_8"/>
          <p:cNvSpPr txBox="1"/>
          <p:nvPr/>
        </p:nvSpPr>
        <p:spPr>
          <a:xfrm>
            <a:off x="8572725" y="1308075"/>
            <a:ext cx="142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000"/>
              <a:t>Backend</a:t>
            </a:r>
            <a:endParaRPr b="1" sz="2000"/>
          </a:p>
        </p:txBody>
      </p:sp>
      <p:sp>
        <p:nvSpPr>
          <p:cNvPr id="301" name="Google Shape;301;g3f0ee9bbb6f_0_8"/>
          <p:cNvSpPr txBox="1"/>
          <p:nvPr/>
        </p:nvSpPr>
        <p:spPr>
          <a:xfrm>
            <a:off x="9745075" y="4213850"/>
            <a:ext cx="246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g3f0ee9bbb6f_0_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18363" y="1910425"/>
            <a:ext cx="812826" cy="81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g3f0ee9bbb6f_0_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972950" y="1897714"/>
            <a:ext cx="812825" cy="838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3f0ee9bbb6f_0_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122675" y="1897713"/>
            <a:ext cx="768200" cy="76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3f0ee9bbb6f_0_8"/>
          <p:cNvSpPr txBox="1"/>
          <p:nvPr/>
        </p:nvSpPr>
        <p:spPr>
          <a:xfrm>
            <a:off x="7185000" y="3348700"/>
            <a:ext cx="427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000"/>
              <a:t>Herramientas de desarrollo</a:t>
            </a:r>
            <a:endParaRPr b="1" sz="2000"/>
          </a:p>
        </p:txBody>
      </p:sp>
      <p:pic>
        <p:nvPicPr>
          <p:cNvPr id="306" name="Google Shape;306;g3f0ee9bbb6f_0_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316350" y="4071775"/>
            <a:ext cx="873450" cy="87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g3f0ee9bbb6f_0_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457800" y="4024801"/>
            <a:ext cx="967398" cy="967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g3f0ee9bbb6f_0_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043897" y="1877475"/>
            <a:ext cx="1069676" cy="1069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g3f0ee9bbb6f_0_8"/>
          <p:cNvPicPr preferRelativeResize="0"/>
          <p:nvPr/>
        </p:nvPicPr>
        <p:blipFill rotWithShape="1">
          <a:blip r:embed="rId14">
            <a:alphaModFix/>
          </a:blip>
          <a:srcRect b="22930" l="24974" r="24979" t="22925"/>
          <a:stretch/>
        </p:blipFill>
        <p:spPr>
          <a:xfrm>
            <a:off x="11315131" y="358722"/>
            <a:ext cx="625321" cy="6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883c94295_0_7"/>
          <p:cNvSpPr txBox="1"/>
          <p:nvPr/>
        </p:nvSpPr>
        <p:spPr>
          <a:xfrm>
            <a:off x="1357060" y="2878484"/>
            <a:ext cx="94779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Calibri"/>
              <a:buNone/>
            </a:pPr>
            <a:r>
              <a:rPr b="1" lang="es-CO" sz="6000"/>
              <a:t>IMPLEMENTACIÓN</a:t>
            </a:r>
            <a:endParaRPr b="1" sz="60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Calibri"/>
              <a:buNone/>
            </a:pPr>
            <a:r>
              <a:t/>
            </a:r>
            <a:endParaRPr b="1" sz="6000"/>
          </a:p>
        </p:txBody>
      </p:sp>
      <p:sp>
        <p:nvSpPr>
          <p:cNvPr id="315" name="Google Shape;315;g3f883c94295_0_7"/>
          <p:cNvSpPr txBox="1"/>
          <p:nvPr/>
        </p:nvSpPr>
        <p:spPr>
          <a:xfrm>
            <a:off x="2670325" y="1981825"/>
            <a:ext cx="538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500"/>
              <a:t>FASE 05</a:t>
            </a:r>
            <a:endParaRPr b="1" sz="25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b="1" lang="es-CO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Especificación</a:t>
            </a:r>
            <a:r>
              <a:rPr b="1" lang="es-CO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de Caso de Prueba</a:t>
            </a:r>
            <a:endParaRPr b="1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30"/>
          <p:cNvPicPr preferRelativeResize="0"/>
          <p:nvPr/>
        </p:nvPicPr>
        <p:blipFill rotWithShape="1">
          <a:blip r:embed="rId3">
            <a:alphaModFix/>
          </a:blip>
          <a:srcRect b="22930" l="24974" r="24979" t="22925"/>
          <a:stretch/>
        </p:blipFill>
        <p:spPr>
          <a:xfrm>
            <a:off x="11098751" y="195649"/>
            <a:ext cx="816775" cy="80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Tema de 2022">
  <a:themeElements>
    <a:clrScheme name="Personalizado 1">
      <a:dk1>
        <a:srgbClr val="39A900"/>
      </a:dk1>
      <a:lt1>
        <a:srgbClr val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2025-07-11T16:31:34Z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c6329c04-9ceb-4fca-88c8-0029777b3481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  <property fmtid="{D5CDD505-2E9C-101B-9397-08002B2CF9AE}" pid="10" name="ContentTypeId">
    <vt:lpwstr>0x010100DFC498A2056BBE41884A04D4FF5445B0</vt:lpwstr>
  </property>
  <property fmtid="{D5CDD505-2E9C-101B-9397-08002B2CF9AE}" pid="11" name="MediaServiceImageTags">
    <vt:lpwstr/>
  </property>
  <property fmtid="{D5CDD505-2E9C-101B-9397-08002B2CF9AE}" pid="12" name="Order">
    <vt:r8>194900.0</vt:r8>
  </property>
  <property fmtid="{D5CDD505-2E9C-101B-9397-08002B2CF9AE}" pid="13" name="xd_Signature">
    <vt:bool>false</vt:bool>
  </property>
  <property fmtid="{D5CDD505-2E9C-101B-9397-08002B2CF9AE}" pid="14" name="xd_ProgID">
    <vt:lpwstr/>
  </property>
  <property fmtid="{D5CDD505-2E9C-101B-9397-08002B2CF9AE}" pid="15" name="_SourceUrl">
    <vt:lpwstr/>
  </property>
  <property fmtid="{D5CDD505-2E9C-101B-9397-08002B2CF9AE}" pid="16" name="_SharedFileIndex">
    <vt:lpwstr/>
  </property>
  <property fmtid="{D5CDD505-2E9C-101B-9397-08002B2CF9AE}" pid="17" name="ComplianceAssetId">
    <vt:lpwstr/>
  </property>
  <property fmtid="{D5CDD505-2E9C-101B-9397-08002B2CF9AE}" pid="18" name="TemplateUrl">
    <vt:lpwstr/>
  </property>
  <property fmtid="{D5CDD505-2E9C-101B-9397-08002B2CF9AE}" pid="19" name="_ExtendedDescription">
    <vt:lpwstr/>
  </property>
  <property fmtid="{D5CDD505-2E9C-101B-9397-08002B2CF9AE}" pid="20" name="TriggerFlowInfo">
    <vt:lpwstr/>
  </property>
</Properties>
</file>